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3"/>
  </p:notesMasterIdLst>
  <p:handoutMasterIdLst>
    <p:handoutMasterId r:id="rId34"/>
  </p:handoutMasterIdLst>
  <p:sldIdLst>
    <p:sldId id="329" r:id="rId2"/>
    <p:sldId id="353" r:id="rId3"/>
    <p:sldId id="354" r:id="rId4"/>
    <p:sldId id="355" r:id="rId5"/>
    <p:sldId id="356" r:id="rId6"/>
    <p:sldId id="368" r:id="rId7"/>
    <p:sldId id="385" r:id="rId8"/>
    <p:sldId id="357" r:id="rId9"/>
    <p:sldId id="358" r:id="rId10"/>
    <p:sldId id="359" r:id="rId11"/>
    <p:sldId id="369" r:id="rId12"/>
    <p:sldId id="371" r:id="rId13"/>
    <p:sldId id="372" r:id="rId14"/>
    <p:sldId id="384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73" r:id="rId23"/>
    <p:sldId id="380" r:id="rId24"/>
    <p:sldId id="376" r:id="rId25"/>
    <p:sldId id="377" r:id="rId26"/>
    <p:sldId id="378" r:id="rId27"/>
    <p:sldId id="379" r:id="rId28"/>
    <p:sldId id="349" r:id="rId29"/>
    <p:sldId id="382" r:id="rId30"/>
    <p:sldId id="367" r:id="rId31"/>
    <p:sldId id="381" r:id="rId32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-49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312"/>
    </p:cViewPr>
  </p:sorterViewPr>
  <p:notesViewPr>
    <p:cSldViewPr snapToGrid="0">
      <p:cViewPr varScale="1">
        <p:scale>
          <a:sx n="70" d="100"/>
          <a:sy n="70" d="100"/>
        </p:scale>
        <p:origin x="324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18830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4" y="3"/>
            <a:ext cx="2918830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C492D-54CA-4AD2-8A5C-AEFD71647D8F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0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4" y="9371286"/>
            <a:ext cx="2918830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C7275-098D-441A-A3B2-D4205A5840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80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18830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4" y="3"/>
            <a:ext cx="2918830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21CD1-5339-49F1-B3F7-1260293ABD2B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1900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0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4" y="9371286"/>
            <a:ext cx="2918830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7956A-C899-4AFD-B121-D40B33E911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06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  <a:prstGeom prst="rect">
            <a:avLst/>
          </a:prstGeo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8876DCB-1E9F-45C5-8F65-7A2CA40D589C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99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769" y="516713"/>
            <a:ext cx="8761413" cy="706964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840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F34E6425-0181-43F2-84FC-787E803FD2F8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81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3BDB8791-F1B0-41E7-B7FD-A781E65C4266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0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5FDD63B2-E120-4ED8-B27B-C685F510A5FE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9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7AA18ACC-A947-437B-A130-35BD54FDF1E9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01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7C8D7E02-BCB8-4D50-A234-369438C08659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02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76E86A4C-8E40-4F87-A4F0-01A0687C5742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88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35E72C73-2D91-4E12-BA25-F0AA0C03599B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87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923A1CC3-2375-41D4-9E03-427CAF2A4C1A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73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AFF16868-8199-4C2C-A5B1-63AEE139F88E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197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AAD9FF7F-6988-44CC-821B-644E70CD2F73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292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5C12C299-16B2-4475-990D-751901EACC14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43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9FE86839-B9D8-4651-8783-F325ECE74E65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770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FD484F64-32F6-45C5-931F-ADC1662401D0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544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</p:spPr>
        <p:txBody>
          <a:bodyPr/>
          <a:lstStyle/>
          <a:p>
            <a:fld id="{53086D93-FCAC-47E0-A2EE-787E62CA814C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003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  <a:prstGeom prst="rect">
            <a:avLst/>
          </a:prstGeom>
        </p:spPr>
        <p:txBody>
          <a:bodyPr/>
          <a:lstStyle/>
          <a:p>
            <a:fld id="{CDA879A6-0FD0-4734-A311-86BFCA472E6E}" type="datetimeFigureOut">
              <a:rPr lang="en-US" dirty="0"/>
              <a:pPr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34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75656" y="0"/>
            <a:ext cx="10006012" cy="49276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2" name="TextBox 21"/>
          <p:cNvSpPr txBox="1"/>
          <p:nvPr userDrawn="1"/>
        </p:nvSpPr>
        <p:spPr>
          <a:xfrm>
            <a:off x="9558521" y="6154994"/>
            <a:ext cx="2364854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rgbClr val="7030A0"/>
                </a:solidFill>
              </a:rPr>
              <a:t>P. Ramakrishna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 err="1" smtClean="0">
                <a:solidFill>
                  <a:srgbClr val="7030A0"/>
                </a:solidFill>
              </a:rPr>
              <a:t>Retd</a:t>
            </a:r>
            <a:r>
              <a:rPr lang="en-US" sz="1000" b="1" dirty="0" smtClean="0">
                <a:solidFill>
                  <a:srgbClr val="7030A0"/>
                </a:solidFill>
              </a:rPr>
              <a:t>.</a:t>
            </a:r>
            <a:r>
              <a:rPr lang="en-US" sz="1000" b="1" baseline="0" dirty="0" smtClean="0">
                <a:solidFill>
                  <a:srgbClr val="7030A0"/>
                </a:solidFill>
              </a:rPr>
              <a:t> Food Process Engineer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baseline="0" dirty="0" smtClean="0">
                <a:solidFill>
                  <a:srgbClr val="7030A0"/>
                </a:solidFill>
              </a:rPr>
              <a:t>Visiting Professor/Consultant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baseline="0" dirty="0" smtClean="0">
                <a:solidFill>
                  <a:srgbClr val="7030A0"/>
                </a:solidFill>
              </a:rPr>
              <a:t>CFTRI, TATA TEA, JNTUK,JNTUA</a:t>
            </a:r>
            <a:endParaRPr lang="en-US" sz="800" b="1" dirty="0" smtClean="0">
              <a:solidFill>
                <a:srgbClr val="7030A0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50" dirty="0" smtClean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6" t="13359" r="8036" b="24713"/>
          <a:stretch/>
        </p:blipFill>
        <p:spPr>
          <a:xfrm>
            <a:off x="11597445" y="6167584"/>
            <a:ext cx="594555" cy="69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5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 </a:t>
            </a:r>
            <a:r>
              <a:rPr lang="en-US" sz="3200" dirty="0" smtClean="0"/>
              <a:t>AMBITION</a:t>
            </a:r>
            <a:br>
              <a:rPr lang="en-US" sz="3200" dirty="0" smtClean="0"/>
            </a:b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marL="0" indent="0" algn="ctr">
              <a:buNone/>
            </a:pPr>
            <a:endParaRPr lang="en-US" sz="3200" i="1" dirty="0" smtClean="0"/>
          </a:p>
          <a:p>
            <a:pPr algn="ctr">
              <a:buNone/>
            </a:pPr>
            <a:endParaRPr lang="en-US" sz="2000" dirty="0" smtClean="0"/>
          </a:p>
          <a:p>
            <a:pPr algn="ctr">
              <a:buNone/>
            </a:pPr>
            <a:endParaRPr lang="en-US" sz="2000" dirty="0" smtClean="0"/>
          </a:p>
          <a:p>
            <a:pPr algn="ctr">
              <a:buNone/>
            </a:pPr>
            <a:r>
              <a:rPr lang="en-US" sz="2000" dirty="0" smtClean="0"/>
              <a:t>SHARE THE KNOWLEDGE/EXPERTISE BACK TO SOCIETY</a:t>
            </a:r>
          </a:p>
          <a:p>
            <a:pPr algn="ctr">
              <a:buNone/>
            </a:pPr>
            <a:r>
              <a:rPr lang="en-US" sz="1400" dirty="0" smtClean="0"/>
              <a:t>(ACADEMIC INSTITUTIONS,  INDUSTRY, PROSESSIONAL BODIES etc) </a:t>
            </a:r>
          </a:p>
          <a:p>
            <a:pPr algn="ctr">
              <a:buNone/>
            </a:pPr>
            <a:endParaRPr lang="en-US" sz="1400" dirty="0" smtClean="0"/>
          </a:p>
          <a:p>
            <a:pPr algn="ctr">
              <a:buNone/>
            </a:pPr>
            <a:r>
              <a:rPr lang="en-US" sz="1400" i="1" dirty="0" smtClean="0"/>
              <a:t>                                                …………………….AS LONG AS IT IS POSSIBLE</a:t>
            </a:r>
          </a:p>
          <a:p>
            <a:pPr marL="0" indent="0" algn="just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 </a:t>
            </a:r>
            <a:r>
              <a:rPr lang="en-US" sz="3200" dirty="0" smtClean="0"/>
              <a:t>QUALIFICATIONS</a:t>
            </a:r>
            <a:br>
              <a:rPr lang="en-US" sz="3200" dirty="0" smtClean="0"/>
            </a:b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marL="0" indent="0" algn="ctr">
              <a:buNone/>
            </a:pPr>
            <a:endParaRPr lang="en-US" sz="3200" i="1" dirty="0" smtClean="0"/>
          </a:p>
          <a:p>
            <a:pPr algn="ctr">
              <a:buNone/>
            </a:pPr>
            <a:endParaRPr lang="en-US" sz="2000" dirty="0" smtClean="0"/>
          </a:p>
          <a:p>
            <a:pPr algn="ctr">
              <a:buNone/>
            </a:pPr>
            <a:r>
              <a:rPr lang="en-US" sz="2000" dirty="0" smtClean="0"/>
              <a:t> B. Tech in Chemical Engineering</a:t>
            </a:r>
            <a:endParaRPr lang="en-US" sz="1400" i="1" dirty="0" smtClean="0"/>
          </a:p>
          <a:p>
            <a:pPr marL="0" indent="0" algn="ctr">
              <a:buNone/>
            </a:pPr>
            <a:r>
              <a:rPr lang="en-US" sz="2000" dirty="0" smtClean="0"/>
              <a:t> M. Tech in Chemical Engineering</a:t>
            </a:r>
            <a:endParaRPr lang="en-US" sz="1400" i="1" dirty="0" smtClean="0"/>
          </a:p>
          <a:p>
            <a:pPr marL="0" indent="0" algn="ctr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EXPERIENCE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algn="ctr"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15 years at CFTRI  in Product Development, Processing Engineering, Technology Transfer, Teaching  &amp; Training in Food Processing</a:t>
            </a:r>
          </a:p>
          <a:p>
            <a:pPr>
              <a:buNone/>
            </a:pPr>
            <a:r>
              <a:rPr lang="en-US" sz="2000" dirty="0" smtClean="0"/>
              <a:t>16 years at Tata Tea in Product Development, R&amp;D Management, Tea/Coffee/Spices processing</a:t>
            </a:r>
          </a:p>
          <a:p>
            <a:pPr>
              <a:buNone/>
            </a:pPr>
            <a:r>
              <a:rPr lang="en-US" sz="2000" dirty="0" smtClean="0"/>
              <a:t>12 years Honorary Services after retirement in Academics(Teaching/Training/QC)</a:t>
            </a:r>
          </a:p>
          <a:p>
            <a:pPr lvl="1">
              <a:buNone/>
            </a:pPr>
            <a:r>
              <a:rPr lang="en-US" dirty="0" smtClean="0"/>
              <a:t>11years at JNTUK</a:t>
            </a:r>
          </a:p>
          <a:p>
            <a:pPr lvl="1">
              <a:buNone/>
            </a:pPr>
            <a:r>
              <a:rPr lang="en-US" dirty="0" smtClean="0"/>
              <a:t> 3 years at JNTUA</a:t>
            </a:r>
          </a:p>
          <a:p>
            <a:pPr lvl="1">
              <a:buNone/>
            </a:pPr>
            <a:r>
              <a:rPr lang="en-US" sz="1400" i="1" dirty="0" smtClean="0"/>
              <a:t> </a:t>
            </a:r>
            <a:r>
              <a:rPr lang="en-US" dirty="0"/>
              <a:t>2</a:t>
            </a:r>
            <a:r>
              <a:rPr lang="en-US" dirty="0" smtClean="0"/>
              <a:t> years at AKNU</a:t>
            </a:r>
            <a:endParaRPr lang="en-US" i="1" dirty="0" smtClean="0"/>
          </a:p>
          <a:p>
            <a:pPr marL="0" indent="0" algn="ctr">
              <a:buNone/>
            </a:pPr>
            <a:r>
              <a:rPr lang="en-US" sz="2000" dirty="0" smtClean="0"/>
              <a:t> </a:t>
            </a:r>
            <a:endParaRPr lang="en-US" sz="1400" i="1" dirty="0" smtClean="0"/>
          </a:p>
          <a:p>
            <a:pPr marL="0" indent="0" algn="ctr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POSITIONS HELD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algn="ctr">
              <a:buNone/>
            </a:pPr>
            <a:endParaRPr lang="en-US" sz="2000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sz="2000" dirty="0" smtClean="0"/>
              <a:t>Professor of Practice, </a:t>
            </a:r>
            <a:r>
              <a:rPr lang="en-US" sz="2000" dirty="0" err="1" smtClean="0"/>
              <a:t>Adikavi</a:t>
            </a:r>
            <a:r>
              <a:rPr lang="en-US" sz="2000" dirty="0" smtClean="0"/>
              <a:t> </a:t>
            </a:r>
            <a:r>
              <a:rPr lang="en-US" sz="2000" dirty="0" err="1" smtClean="0"/>
              <a:t>Nanayya</a:t>
            </a:r>
            <a:r>
              <a:rPr lang="en-US" sz="2000" dirty="0" smtClean="0"/>
              <a:t> University, Rajahmundry(2023-2025)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			Academic Advisor/Visiting Professor, JNTUK (2021-22)</a:t>
            </a:r>
          </a:p>
          <a:p>
            <a:pPr>
              <a:buNone/>
            </a:pPr>
            <a:r>
              <a:rPr lang="en-US" sz="2000" dirty="0" smtClean="0"/>
              <a:t>				Emeritus Professor-Food Technology, JNTUACEK (2018-21)</a:t>
            </a:r>
          </a:p>
          <a:p>
            <a:pPr>
              <a:buNone/>
            </a:pPr>
            <a:r>
              <a:rPr lang="en-US" sz="2000" dirty="0" smtClean="0"/>
              <a:t>				Head, Food Testing Laboratory, JNTUK (2014-2019)</a:t>
            </a:r>
          </a:p>
          <a:p>
            <a:pPr>
              <a:buNone/>
            </a:pPr>
            <a:r>
              <a:rPr lang="en-US" sz="2000" dirty="0" smtClean="0"/>
              <a:t>				Program Director, School of Food Technology, JNTUK (2011-2019)</a:t>
            </a:r>
          </a:p>
          <a:p>
            <a:pPr>
              <a:buNone/>
            </a:pPr>
            <a:r>
              <a:rPr lang="en-US" sz="2000" dirty="0" smtClean="0"/>
              <a:t>				Scientist In Charge, Process Engineering, CFTRI, Mysore (1975-1990)</a:t>
            </a:r>
          </a:p>
          <a:p>
            <a:pPr>
              <a:buNone/>
            </a:pPr>
            <a:r>
              <a:rPr lang="en-US" sz="2000" dirty="0" smtClean="0"/>
              <a:t>				GM &amp; Head, R&amp;D, Tata Tea (1990-2006)</a:t>
            </a:r>
          </a:p>
          <a:p>
            <a:pPr>
              <a:buNone/>
            </a:pPr>
            <a:r>
              <a:rPr lang="en-US" sz="2000" dirty="0" smtClean="0"/>
              <a:t> </a:t>
            </a:r>
          </a:p>
          <a:p>
            <a:pPr>
              <a:buNone/>
            </a:pPr>
            <a:endParaRPr lang="en-US" sz="1400" i="1" dirty="0" smtClean="0"/>
          </a:p>
          <a:p>
            <a:pPr marL="0" indent="0" algn="ctr">
              <a:buNone/>
            </a:pPr>
            <a:r>
              <a:rPr lang="en-US" sz="2000" dirty="0" smtClean="0"/>
              <a:t> </a:t>
            </a:r>
            <a:endParaRPr lang="en-US" sz="1400" i="1" dirty="0" smtClean="0"/>
          </a:p>
          <a:p>
            <a:pPr marL="0" indent="0" algn="ctr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CONTRIBUTIONS – FIRST OF ITS KIND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lvl="3" algn="ctr">
              <a:buNone/>
            </a:pPr>
            <a:r>
              <a:rPr lang="en-US" sz="2000" dirty="0" smtClean="0"/>
              <a:t>				 </a:t>
            </a:r>
            <a:endParaRPr lang="en-US" sz="2000" i="1" dirty="0" smtClean="0"/>
          </a:p>
          <a:p>
            <a:pPr lvl="3">
              <a:buNone/>
            </a:pPr>
            <a:r>
              <a:rPr lang="en-US" sz="2000" dirty="0" smtClean="0"/>
              <a:t>Introduction of </a:t>
            </a:r>
            <a:r>
              <a:rPr lang="en-US" sz="2000" dirty="0" err="1" smtClean="0"/>
              <a:t>Flavour</a:t>
            </a:r>
            <a:r>
              <a:rPr lang="en-US" sz="2000" dirty="0" smtClean="0"/>
              <a:t> teas in India</a:t>
            </a:r>
          </a:p>
          <a:p>
            <a:pPr lvl="3">
              <a:buNone/>
            </a:pPr>
            <a:r>
              <a:rPr lang="en-US" sz="2000" dirty="0" smtClean="0"/>
              <a:t>Mechanical </a:t>
            </a:r>
            <a:r>
              <a:rPr lang="en-US" sz="2000" dirty="0" err="1" smtClean="0"/>
              <a:t>dehulling</a:t>
            </a:r>
            <a:r>
              <a:rPr lang="en-US" sz="2000" dirty="0" smtClean="0"/>
              <a:t> of melon seeds</a:t>
            </a:r>
          </a:p>
          <a:p>
            <a:pPr lvl="3">
              <a:buNone/>
            </a:pPr>
            <a:r>
              <a:rPr lang="en-US" sz="2000" dirty="0" smtClean="0"/>
              <a:t>Waste heat recovery in tea processing</a:t>
            </a:r>
          </a:p>
          <a:p>
            <a:pPr lvl="3">
              <a:buNone/>
            </a:pPr>
            <a:r>
              <a:rPr lang="en-US" sz="2000" dirty="0" smtClean="0"/>
              <a:t>Design of double effect tubular evaporator</a:t>
            </a:r>
          </a:p>
          <a:p>
            <a:pPr lvl="3">
              <a:buNone/>
            </a:pPr>
            <a:r>
              <a:rPr lang="en-US" sz="2000" dirty="0" smtClean="0"/>
              <a:t>Process for hot soluble instant tea (A preferential leaching process for Tea)</a:t>
            </a:r>
          </a:p>
          <a:p>
            <a:pPr lvl="3">
              <a:buNone/>
            </a:pPr>
            <a:r>
              <a:rPr lang="en-US" sz="2000" dirty="0" smtClean="0"/>
              <a:t>Fast brew tea bags</a:t>
            </a:r>
          </a:p>
          <a:p>
            <a:pPr lvl="3">
              <a:buNone/>
            </a:pPr>
            <a:r>
              <a:rPr lang="en-US" sz="2000" dirty="0" smtClean="0"/>
              <a:t>Use of enzymes in tea processing</a:t>
            </a:r>
          </a:p>
          <a:p>
            <a:pPr marL="0" indent="0" algn="ctr">
              <a:buNone/>
            </a:pPr>
            <a:r>
              <a:rPr lang="en-US" sz="2000" dirty="0" smtClean="0"/>
              <a:t> </a:t>
            </a:r>
            <a:endParaRPr lang="en-US" sz="1400" i="1" dirty="0" smtClean="0"/>
          </a:p>
          <a:p>
            <a:pPr marL="0" indent="0" algn="ctr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CONTRIBUTIONS – FIRST OF ITS KIND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lvl="3" algn="ctr">
              <a:buNone/>
            </a:pPr>
            <a:r>
              <a:rPr lang="en-US" sz="2000" dirty="0" smtClean="0"/>
              <a:t>				 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				Process controls in tea manufacture</a:t>
            </a:r>
          </a:p>
          <a:p>
            <a:pPr>
              <a:buNone/>
            </a:pPr>
            <a:r>
              <a:rPr lang="en-US" sz="2000" dirty="0" smtClean="0"/>
              <a:t>					</a:t>
            </a:r>
            <a:r>
              <a:rPr lang="en-US" sz="2000" dirty="0" err="1" smtClean="0"/>
              <a:t>Dewaxing</a:t>
            </a:r>
            <a:r>
              <a:rPr lang="en-US" sz="2000" dirty="0" smtClean="0"/>
              <a:t> of rice bran oil</a:t>
            </a:r>
          </a:p>
          <a:p>
            <a:pPr>
              <a:buNone/>
            </a:pPr>
            <a:r>
              <a:rPr lang="en-US" sz="2000" dirty="0" smtClean="0"/>
              <a:t>					Puffing of </a:t>
            </a:r>
            <a:r>
              <a:rPr lang="en-US" sz="2000" dirty="0" err="1" smtClean="0"/>
              <a:t>Makhana</a:t>
            </a:r>
            <a:r>
              <a:rPr lang="en-US" sz="2000" dirty="0" smtClean="0"/>
              <a:t> seed</a:t>
            </a:r>
          </a:p>
          <a:p>
            <a:pPr>
              <a:buNone/>
            </a:pPr>
            <a:r>
              <a:rPr lang="en-US" sz="2000" dirty="0" smtClean="0"/>
              <a:t>					Black Tea that can be brewed in cold water</a:t>
            </a:r>
          </a:p>
          <a:p>
            <a:pPr>
              <a:buNone/>
            </a:pPr>
            <a:r>
              <a:rPr lang="en-US" sz="2000" dirty="0" smtClean="0"/>
              <a:t>					Fractionation of Red </a:t>
            </a:r>
            <a:r>
              <a:rPr lang="en-US" sz="2000" dirty="0" err="1" smtClean="0"/>
              <a:t>Chilli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					Atta </a:t>
            </a:r>
            <a:r>
              <a:rPr lang="en-US" sz="2000" dirty="0" err="1" smtClean="0"/>
              <a:t>Khaja</a:t>
            </a:r>
            <a:endParaRPr lang="en-US" sz="2000" dirty="0" smtClean="0"/>
          </a:p>
          <a:p>
            <a:pPr lvl="3"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/>
              <a:t> </a:t>
            </a:r>
            <a:endParaRPr lang="en-US" sz="1400" i="1" dirty="0" smtClean="0"/>
          </a:p>
          <a:p>
            <a:pPr marL="0" indent="0" algn="ctr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/>
              <a:t>CONTRIBUTIONS-PUBLICATIONS/PATENTS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lvl="3">
              <a:buNone/>
            </a:pPr>
            <a:r>
              <a:rPr lang="en-US" sz="1600" dirty="0" smtClean="0"/>
              <a:t>PUBLICATIONS</a:t>
            </a:r>
          </a:p>
          <a:p>
            <a:pPr lvl="5">
              <a:buFont typeface="Wingdings" pitchFamily="2" charset="2"/>
              <a:buChar char="§"/>
            </a:pPr>
            <a:r>
              <a:rPr lang="en-US" sz="1600" dirty="0" smtClean="0"/>
              <a:t>   PUBLISHED 25 RESEARCH PAPERS</a:t>
            </a:r>
          </a:p>
          <a:p>
            <a:pPr lvl="5">
              <a:buFont typeface="Wingdings" pitchFamily="2" charset="2"/>
              <a:buChar char="§"/>
            </a:pPr>
            <a:r>
              <a:rPr lang="en-US" sz="1600" dirty="0" smtClean="0"/>
              <a:t>   10 IN INTERNATION JOURNALS</a:t>
            </a:r>
          </a:p>
          <a:p>
            <a:pPr lvl="5">
              <a:buFont typeface="Wingdings" pitchFamily="2" charset="2"/>
              <a:buChar char="§"/>
            </a:pPr>
            <a:r>
              <a:rPr lang="en-US" sz="1600" dirty="0" smtClean="0"/>
              <a:t>    PRESENTED 15 PAPERS</a:t>
            </a:r>
          </a:p>
          <a:p>
            <a:pPr lvl="5">
              <a:buFont typeface="Wingdings" pitchFamily="2" charset="2"/>
              <a:buChar char="§"/>
            </a:pPr>
            <a:r>
              <a:rPr lang="en-US" sz="1600" dirty="0" smtClean="0"/>
              <a:t>    5 IN INTERNATIONAL CONFERENCES</a:t>
            </a:r>
          </a:p>
          <a:p>
            <a:pPr lvl="3">
              <a:buNone/>
            </a:pPr>
            <a:r>
              <a:rPr lang="en-US" sz="1600" dirty="0" smtClean="0"/>
              <a:t>PATENTS</a:t>
            </a:r>
          </a:p>
          <a:p>
            <a:pPr lvl="5">
              <a:buFont typeface="Wingdings" pitchFamily="2" charset="2"/>
              <a:buChar char="§"/>
            </a:pPr>
            <a:r>
              <a:rPr lang="en-US" sz="1600" dirty="0" smtClean="0"/>
              <a:t>	FILED 6 PATENTS</a:t>
            </a:r>
          </a:p>
          <a:p>
            <a:pPr lvl="5">
              <a:buFont typeface="Wingdings" pitchFamily="2" charset="2"/>
              <a:buChar char="§"/>
            </a:pPr>
            <a:r>
              <a:rPr lang="en-US" sz="1600" dirty="0" smtClean="0"/>
              <a:t>    1 US PATENT</a:t>
            </a:r>
          </a:p>
          <a:p>
            <a:pPr marL="1371600" lvl="3" indent="0">
              <a:buNone/>
            </a:pPr>
            <a:r>
              <a:rPr lang="en-US" sz="1600" dirty="0" smtClean="0"/>
              <a:t>PRODUCTS/PROCESSES</a:t>
            </a:r>
          </a:p>
          <a:p>
            <a:pPr lvl="5">
              <a:buFont typeface="Wingdings" pitchFamily="2" charset="2"/>
              <a:buChar char="§"/>
            </a:pPr>
            <a:r>
              <a:rPr lang="en-US" sz="1600" dirty="0" smtClean="0"/>
              <a:t>	DEVELOPED  25 NEW PRODUCTS/PROCESSES</a:t>
            </a:r>
          </a:p>
          <a:p>
            <a:pPr lvl="5">
              <a:buFont typeface="Wingdings" pitchFamily="2" charset="2"/>
              <a:buChar char="§"/>
            </a:pPr>
            <a:r>
              <a:rPr lang="en-US" sz="1600" dirty="0" smtClean="0"/>
              <a:t>    ABOUT 10 COMMERCIALIZED </a:t>
            </a:r>
          </a:p>
          <a:p>
            <a:pPr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/>
              <a:t> </a:t>
            </a:r>
            <a:endParaRPr lang="en-US" sz="1400" i="1" dirty="0" smtClean="0"/>
          </a:p>
          <a:p>
            <a:pPr marL="0" indent="0" algn="ctr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CONTRIBUTIONS-TURN KEY </a:t>
            </a:r>
            <a:r>
              <a:rPr lang="en-US" sz="3200" dirty="0" smtClean="0"/>
              <a:t>PROJECTS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/>
              <a:t>Fruit and vegetable processing plant at </a:t>
            </a:r>
            <a:r>
              <a:rPr lang="en-US" sz="2800" b="1" dirty="0" err="1" smtClean="0"/>
              <a:t>Hazipur</a:t>
            </a:r>
            <a:r>
              <a:rPr lang="en-US" sz="2800" b="1" dirty="0" smtClean="0"/>
              <a:t>, Bihar -1985</a:t>
            </a:r>
            <a:endParaRPr lang="en-US" sz="2800" dirty="0" smtClean="0"/>
          </a:p>
          <a:p>
            <a:pPr>
              <a:buNone/>
            </a:pPr>
            <a:r>
              <a:rPr lang="en-US" sz="2000" dirty="0" smtClean="0"/>
              <a:t>	Capacity                            :         50 TPD Tomato,  20 TPD Pineapple,  10 TPD Mango,</a:t>
            </a:r>
          </a:p>
          <a:p>
            <a:pPr>
              <a:buNone/>
            </a:pPr>
            <a:r>
              <a:rPr lang="en-US" sz="2000" dirty="0" smtClean="0"/>
              <a:t>									5 TPD </a:t>
            </a:r>
            <a:r>
              <a:rPr lang="en-US" sz="2000" dirty="0" err="1" smtClean="0"/>
              <a:t>Lichi</a:t>
            </a:r>
            <a:r>
              <a:rPr lang="en-US" sz="2000" dirty="0" smtClean="0"/>
              <a:t>,  6000 Bottles per day RTS </a:t>
            </a:r>
          </a:p>
          <a:p>
            <a:pPr>
              <a:buNone/>
            </a:pPr>
            <a:r>
              <a:rPr lang="en-US" sz="2000" dirty="0" smtClean="0"/>
              <a:t>	Capital                               :         2 </a:t>
            </a:r>
            <a:r>
              <a:rPr lang="en-US" sz="2000" dirty="0" err="1" smtClean="0"/>
              <a:t>Crores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Employment potential       :         50 Persons</a:t>
            </a:r>
          </a:p>
          <a:p>
            <a:pPr>
              <a:buNone/>
            </a:pPr>
            <a:r>
              <a:rPr lang="en-US" sz="2000" dirty="0" smtClean="0"/>
              <a:t>	Value added                      :         3 </a:t>
            </a:r>
            <a:r>
              <a:rPr lang="en-US" sz="2000" dirty="0" err="1" smtClean="0"/>
              <a:t>crores</a:t>
            </a:r>
            <a:r>
              <a:rPr lang="en-US" sz="2000" dirty="0" smtClean="0"/>
              <a:t> per annum</a:t>
            </a:r>
          </a:p>
          <a:p>
            <a:pPr>
              <a:buNone/>
            </a:pPr>
            <a:r>
              <a:rPr lang="en-US" sz="2000" dirty="0" smtClean="0"/>
              <a:t>	Individual contribution     :         Coordinated implementation and commissioning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1400" b="1" dirty="0" smtClean="0"/>
              <a:t>	FIRST INDEGINOUS PLANT. DOUBLE EFFECT TUBULAR EVAPORATOR (1700 KG/HR) DESIGNED BY CFTRI AND FABRICATED BY L&amp;T 1700 KG/HR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CONTRIBUTIONS-TURN KEY </a:t>
            </a:r>
            <a:r>
              <a:rPr lang="en-US" sz="3200" dirty="0" smtClean="0"/>
              <a:t>PROJECTS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/>
              <a:t>	Fruit processing plant at </a:t>
            </a:r>
            <a:r>
              <a:rPr lang="en-US" sz="2800" b="1" dirty="0" err="1" smtClean="0"/>
              <a:t>Nigmoi</a:t>
            </a:r>
            <a:r>
              <a:rPr lang="en-US" sz="2800" b="1" dirty="0" smtClean="0"/>
              <a:t>, Arunachal Pradesh -1987</a:t>
            </a:r>
            <a:endParaRPr lang="en-US" sz="2800" dirty="0" smtClean="0"/>
          </a:p>
          <a:p>
            <a:pPr>
              <a:buNone/>
            </a:pPr>
            <a:r>
              <a:rPr lang="en-US" sz="2000" dirty="0" smtClean="0"/>
              <a:t>	</a:t>
            </a:r>
          </a:p>
          <a:p>
            <a:pPr>
              <a:buNone/>
            </a:pPr>
            <a:r>
              <a:rPr lang="en-US" sz="2000" dirty="0" smtClean="0"/>
              <a:t>	Capacity                            : 		5T per shift of Malta orange or Pineapple</a:t>
            </a:r>
          </a:p>
          <a:p>
            <a:pPr>
              <a:buNone/>
            </a:pPr>
            <a:r>
              <a:rPr lang="en-US" sz="2000" dirty="0" smtClean="0"/>
              <a:t>	Capital                               : 		1.5 </a:t>
            </a:r>
            <a:r>
              <a:rPr lang="en-US" sz="2000" dirty="0" err="1" smtClean="0"/>
              <a:t>Crore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Employment potential       :        100 Persons</a:t>
            </a:r>
          </a:p>
          <a:p>
            <a:pPr>
              <a:buNone/>
            </a:pPr>
            <a:r>
              <a:rPr lang="en-US" sz="2000" dirty="0" smtClean="0"/>
              <a:t>	Value added                      :         1 </a:t>
            </a:r>
            <a:r>
              <a:rPr lang="en-US" sz="2000" dirty="0" err="1" smtClean="0"/>
              <a:t>crores</a:t>
            </a:r>
            <a:r>
              <a:rPr lang="en-US" sz="2000" dirty="0" smtClean="0"/>
              <a:t> per annum</a:t>
            </a:r>
          </a:p>
          <a:p>
            <a:pPr>
              <a:buNone/>
            </a:pPr>
            <a:r>
              <a:rPr lang="en-US" sz="2000" dirty="0" smtClean="0"/>
              <a:t>	Individual contribution     : 		Commissioning of concentration plant</a:t>
            </a:r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r>
              <a:rPr lang="en-US" sz="1400" b="1" dirty="0" smtClean="0"/>
              <a:t>	FIRST INDEGINOUS PINEAPPLE JUICE CONCENTRATION PLANT USING A DOUBLE EFFECT PLATE EVAPORATOR IN INDIA</a:t>
            </a:r>
          </a:p>
          <a:p>
            <a:pPr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CONTRIBUTIONS-TURN KEY </a:t>
            </a:r>
            <a:r>
              <a:rPr lang="en-US" sz="3200" dirty="0" smtClean="0"/>
              <a:t>PROJECTS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/>
              <a:t>Tomato and </a:t>
            </a:r>
            <a:r>
              <a:rPr lang="en-US" sz="2800" b="1" dirty="0" err="1" smtClean="0"/>
              <a:t>malta</a:t>
            </a:r>
            <a:r>
              <a:rPr lang="en-US" sz="2800" b="1" dirty="0" smtClean="0"/>
              <a:t> orange processing plant at </a:t>
            </a:r>
            <a:r>
              <a:rPr lang="en-US" sz="2800" b="1" dirty="0" err="1" smtClean="0"/>
              <a:t>Abohar</a:t>
            </a:r>
            <a:r>
              <a:rPr lang="en-US" sz="2800" b="1" dirty="0" smtClean="0"/>
              <a:t> -1984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Capacity                            : 		 5T per hour Malta orange and 30 TPD Tomato</a:t>
            </a:r>
          </a:p>
          <a:p>
            <a:pPr>
              <a:buNone/>
            </a:pPr>
            <a:r>
              <a:rPr lang="en-US" sz="2000" dirty="0" smtClean="0"/>
              <a:t>	Capital                               : 		1.5 </a:t>
            </a:r>
            <a:r>
              <a:rPr lang="en-US" sz="2000" dirty="0" err="1" smtClean="0"/>
              <a:t>Crore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Employment potential       :         60 Persons</a:t>
            </a:r>
          </a:p>
          <a:p>
            <a:pPr>
              <a:buNone/>
            </a:pPr>
            <a:r>
              <a:rPr lang="en-US" sz="2000" dirty="0" smtClean="0"/>
              <a:t>	Value added                      :         1 </a:t>
            </a:r>
            <a:r>
              <a:rPr lang="en-US" sz="2000" dirty="0" err="1" smtClean="0"/>
              <a:t>crores</a:t>
            </a:r>
            <a:r>
              <a:rPr lang="en-US" sz="2000" dirty="0" smtClean="0"/>
              <a:t> per annum</a:t>
            </a:r>
          </a:p>
          <a:p>
            <a:pPr>
              <a:buNone/>
            </a:pPr>
            <a:r>
              <a:rPr lang="en-US" sz="2000" dirty="0" smtClean="0"/>
              <a:t>	Individual contribution     : 		Project appraisal</a:t>
            </a:r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r>
              <a:rPr lang="en-US" sz="1400" b="1" dirty="0" smtClean="0"/>
              <a:t>	CFTRI ESTABLISHED THE UNIT FOR PAIC. LATER CAPACITY OF THE PLANT INCREASED AND EQUIPMENT LIKE CENTITHERM EVAPORATOR IMPORTED TO IMPROVE TH EPROJECT VIABILTY</a:t>
            </a:r>
          </a:p>
          <a:p>
            <a:pPr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CONTRIBUTIONS-AFTER RETIREMENT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fontAlgn="base">
              <a:buNone/>
            </a:pPr>
            <a:r>
              <a:rPr lang="en-US" i="1" dirty="0" smtClean="0"/>
              <a:t>Established School of Food Technology at JNTUK with financial support Rs 75 </a:t>
            </a:r>
            <a:r>
              <a:rPr lang="en-US" i="1" dirty="0" err="1" smtClean="0"/>
              <a:t>lakhs</a:t>
            </a:r>
            <a:r>
              <a:rPr lang="en-US" i="1" dirty="0" smtClean="0"/>
              <a:t> from </a:t>
            </a:r>
            <a:r>
              <a:rPr lang="en-US" i="1" dirty="0" err="1" smtClean="0"/>
              <a:t>MoFPI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Started M. Tech in Food Processing Technology in 2010-11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  AITCE recognition since inception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 Internships with stipend/Placements in leading Food Industries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                                                                               ____________First M. Tech course in AP</a:t>
            </a:r>
          </a:p>
          <a:p>
            <a:pPr fontAlgn="base">
              <a:buNone/>
            </a:pPr>
            <a:r>
              <a:rPr lang="en-US" i="1" dirty="0" smtClean="0"/>
              <a:t>Started B. Tech in Food Engineering in 2020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            State of art laboratories set up(Rs 430)         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                                                                                ____________First such B. Tech course in AP</a:t>
            </a:r>
            <a:endParaRPr lang="en-US" dirty="0" smtClean="0"/>
          </a:p>
          <a:p>
            <a:pPr>
              <a:buNone/>
            </a:pPr>
            <a:endParaRPr lang="en-US" i="1" dirty="0" smtClean="0"/>
          </a:p>
          <a:p>
            <a:pPr>
              <a:buNone/>
            </a:pPr>
            <a:r>
              <a:rPr lang="en-US" i="1" dirty="0" smtClean="0"/>
              <a:t>Started AFST(I) chapter </a:t>
            </a:r>
            <a:r>
              <a:rPr lang="en-US" dirty="0" smtClean="0"/>
              <a:t>to promote Food Science and Technology in AP.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CONTRIBUTIONS-AFTER RETIREMENT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fontAlgn="base">
              <a:buNone/>
            </a:pPr>
            <a:r>
              <a:rPr lang="en-US" i="1" dirty="0" smtClean="0"/>
              <a:t>Set up Food Testing Laboratory at JNTUK with a grant in aid of 156 </a:t>
            </a:r>
            <a:r>
              <a:rPr lang="en-US" i="1" dirty="0" err="1" smtClean="0"/>
              <a:t>lakhs</a:t>
            </a:r>
            <a:r>
              <a:rPr lang="en-US" i="1" dirty="0" smtClean="0"/>
              <a:t> from </a:t>
            </a:r>
            <a:r>
              <a:rPr lang="en-US" i="1" dirty="0" err="1" smtClean="0"/>
              <a:t>MoFPI</a:t>
            </a:r>
            <a:r>
              <a:rPr lang="en-US" i="1" dirty="0" smtClean="0"/>
              <a:t> in 2014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             NABL accreditation since 26-10-2015                   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             FSSAI recognition since 13-07-2016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            Veg. oils &amp; other Food materials imported at Kakinada Port are tested regularly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             Samples from regional food industry &amp; regulatory bodies are tested for quality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Upgraded Food Testing Laborat</a:t>
            </a:r>
            <a:r>
              <a:rPr lang="en-US" dirty="0" smtClean="0"/>
              <a:t>ory with grant in aid of Rs 439 </a:t>
            </a:r>
            <a:r>
              <a:rPr lang="en-US" dirty="0" err="1" smtClean="0"/>
              <a:t>lakhs</a:t>
            </a:r>
            <a:r>
              <a:rPr lang="en-US" dirty="0" smtClean="0"/>
              <a:t> from APFPS</a:t>
            </a:r>
          </a:p>
          <a:p>
            <a:pPr fontAlgn="base">
              <a:buNone/>
            </a:pPr>
            <a:r>
              <a:rPr lang="en-US" dirty="0" smtClean="0"/>
              <a:t>                      Analysis of heavy metals, pesticide residues &amp; antibiotics started</a:t>
            </a:r>
          </a:p>
          <a:p>
            <a:pPr fontAlgn="base">
              <a:buNone/>
            </a:pPr>
            <a:r>
              <a:rPr lang="en-US" i="1" dirty="0" smtClean="0"/>
              <a:t>Food Testing Laborat</a:t>
            </a:r>
            <a:r>
              <a:rPr lang="en-US" dirty="0" smtClean="0"/>
              <a:t>ory is generating revenues of around Rs 2 </a:t>
            </a:r>
            <a:r>
              <a:rPr lang="en-US" dirty="0" err="1" smtClean="0"/>
              <a:t>lakhs</a:t>
            </a:r>
            <a:r>
              <a:rPr lang="en-US" dirty="0" smtClean="0"/>
              <a:t> per month   </a:t>
            </a:r>
          </a:p>
          <a:p>
            <a:pPr fontAlgn="base">
              <a:buNone/>
            </a:pPr>
            <a:endParaRPr lang="en-US" dirty="0" smtClean="0"/>
          </a:p>
          <a:p>
            <a:pPr fontAlgn="base">
              <a:buNone/>
            </a:pPr>
            <a:r>
              <a:rPr lang="en-US" dirty="0" smtClean="0"/>
              <a:t>                                        ____________________First such Food Testing Laboratory in AP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CONTRIBUTIONS-AFTER RETIREMENT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fontAlgn="base">
              <a:buNone/>
            </a:pPr>
            <a:r>
              <a:rPr lang="en-US" i="1" dirty="0" smtClean="0"/>
              <a:t>Established Food Technology department at JNTUA CEK, KALIKIRI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Started B. Tech in Food  Technology in 2018-19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7 state of art laboratories established (300 </a:t>
            </a:r>
            <a:r>
              <a:rPr lang="en-US" i="1" dirty="0" err="1" smtClean="0"/>
              <a:t>lakhs</a:t>
            </a:r>
            <a:r>
              <a:rPr lang="en-US" i="1" dirty="0" smtClean="0"/>
              <a:t>)                 </a:t>
            </a:r>
          </a:p>
          <a:p>
            <a:pPr fontAlgn="base">
              <a:buNone/>
            </a:pPr>
            <a:r>
              <a:rPr lang="en-US" i="1" dirty="0" smtClean="0"/>
              <a:t>                                 ____________First B. Tech course with complete engineering orientation in AP</a:t>
            </a:r>
          </a:p>
          <a:p>
            <a:pPr fontAlgn="base">
              <a:buNone/>
            </a:pPr>
            <a:endParaRPr lang="en-US" i="1" dirty="0" smtClean="0"/>
          </a:p>
          <a:p>
            <a:pPr fontAlgn="base">
              <a:buNone/>
            </a:pPr>
            <a:r>
              <a:rPr lang="en-US" i="1" dirty="0" smtClean="0"/>
              <a:t>Obtained a grant in aid of Rs. 639 </a:t>
            </a:r>
            <a:r>
              <a:rPr lang="en-US" i="1" dirty="0" err="1" smtClean="0"/>
              <a:t>lakhs</a:t>
            </a:r>
            <a:r>
              <a:rPr lang="en-US" i="1" dirty="0" smtClean="0"/>
              <a:t> from </a:t>
            </a:r>
            <a:r>
              <a:rPr lang="en-US" i="1" dirty="0" err="1" smtClean="0"/>
              <a:t>MoFPI</a:t>
            </a:r>
            <a:r>
              <a:rPr lang="en-US" i="1" dirty="0" smtClean="0"/>
              <a:t> for setting up Food Testing Laboratory in 2018</a:t>
            </a:r>
          </a:p>
          <a:p>
            <a:pPr fontAlgn="base">
              <a:buNone/>
            </a:pPr>
            <a:r>
              <a:rPr lang="en-US" i="1" dirty="0" smtClean="0"/>
              <a:t>          Only basic Laboratory established.      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                                                                               </a:t>
            </a:r>
            <a:endParaRPr lang="en-US" dirty="0" smtClean="0"/>
          </a:p>
          <a:p>
            <a:pPr>
              <a:buNone/>
            </a:pPr>
            <a:r>
              <a:rPr lang="en-US" i="1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CONTRIBUTIONS-AFTER RETIREMENT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fontAlgn="base">
              <a:buNone/>
            </a:pPr>
            <a:r>
              <a:rPr lang="en-US" i="1" dirty="0" smtClean="0"/>
              <a:t>Started department of  Food Technology at </a:t>
            </a:r>
            <a:r>
              <a:rPr lang="en-US" i="1" dirty="0" err="1" smtClean="0"/>
              <a:t>Adikavi</a:t>
            </a:r>
            <a:r>
              <a:rPr lang="en-US" i="1" dirty="0" smtClean="0"/>
              <a:t> </a:t>
            </a:r>
            <a:r>
              <a:rPr lang="en-US" i="1" dirty="0" err="1" smtClean="0"/>
              <a:t>Nanayya</a:t>
            </a:r>
            <a:r>
              <a:rPr lang="en-US" i="1" dirty="0" smtClean="0"/>
              <a:t> University, Rajahmundry</a:t>
            </a:r>
          </a:p>
          <a:p>
            <a:pPr fontAlgn="base">
              <a:buNone/>
            </a:pP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Started  M. Sc in Food  Science and Technology in 2023-24		 </a:t>
            </a:r>
          </a:p>
          <a:p>
            <a:pPr fontAlgn="base">
              <a:buNone/>
            </a:pPr>
            <a:r>
              <a:rPr lang="en-US" dirty="0" smtClean="0"/>
              <a:t>	   </a:t>
            </a:r>
            <a:r>
              <a:rPr lang="en-US" i="1" dirty="0" smtClean="0"/>
              <a:t>Collaboration with CFTRI, Mysore.</a:t>
            </a:r>
          </a:p>
          <a:p>
            <a:pPr fontAlgn="base">
              <a:buNone/>
            </a:pPr>
            <a:r>
              <a:rPr lang="en-US" i="1" dirty="0" smtClean="0"/>
              <a:t>	   Students will carry out project work at CFTRI during the IV semester</a:t>
            </a:r>
          </a:p>
          <a:p>
            <a:pPr fontAlgn="base">
              <a:buNone/>
            </a:pPr>
            <a:r>
              <a:rPr lang="en-US" i="1" dirty="0" smtClean="0"/>
              <a:t>        </a:t>
            </a:r>
          </a:p>
          <a:p>
            <a:pPr fontAlgn="base">
              <a:buNone/>
            </a:pPr>
            <a:r>
              <a:rPr lang="en-US" i="1" dirty="0" smtClean="0"/>
              <a:t>	   Rs. 3  </a:t>
            </a:r>
            <a:r>
              <a:rPr lang="en-US" i="1" dirty="0" err="1" smtClean="0"/>
              <a:t>crores</a:t>
            </a:r>
            <a:r>
              <a:rPr lang="en-US" i="1" dirty="0" smtClean="0"/>
              <a:t> sanctioned under PM USHA for 5 state of art laboratories                 </a:t>
            </a:r>
          </a:p>
          <a:p>
            <a:pPr fontAlgn="base">
              <a:buNone/>
            </a:pPr>
            <a:r>
              <a:rPr lang="en-US" i="1" dirty="0" smtClean="0"/>
              <a:t>                               </a:t>
            </a:r>
            <a:endParaRPr lang="en-US" dirty="0" smtClean="0"/>
          </a:p>
          <a:p>
            <a:pPr fontAlgn="base">
              <a:buNone/>
            </a:pPr>
            <a:r>
              <a:rPr lang="en-US" i="1" dirty="0" smtClean="0"/>
              <a:t>                                                                                        </a:t>
            </a:r>
            <a:endParaRPr lang="en-US" dirty="0" smtClean="0"/>
          </a:p>
          <a:p>
            <a:pPr>
              <a:buNone/>
            </a:pPr>
            <a:r>
              <a:rPr lang="en-US" i="1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Member of Research and Academic Committees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algn="ctr">
              <a:buNone/>
            </a:pPr>
            <a:endParaRPr lang="en-US" sz="2000" dirty="0" smtClean="0"/>
          </a:p>
          <a:p>
            <a:pPr>
              <a:buNone/>
            </a:pPr>
            <a:r>
              <a:rPr lang="en-US" dirty="0" smtClean="0"/>
              <a:t>	Member of Research Advisory Council for Institute of Himalayan Bio-resource Technology, </a:t>
            </a:r>
            <a:r>
              <a:rPr lang="en-US" dirty="0" err="1" smtClean="0"/>
              <a:t>Palampur</a:t>
            </a:r>
            <a:r>
              <a:rPr lang="en-US" dirty="0" smtClean="0"/>
              <a:t> (1998-2001)</a:t>
            </a:r>
            <a:endParaRPr lang="en-US" sz="1600" dirty="0" smtClean="0"/>
          </a:p>
          <a:p>
            <a:pPr>
              <a:buNone/>
            </a:pPr>
            <a:r>
              <a:rPr lang="en-US" dirty="0" smtClean="0"/>
              <a:t>	Member of Technical Committee for Tea - Bureau of Indian Standards (1995-2005) </a:t>
            </a:r>
          </a:p>
          <a:p>
            <a:pPr>
              <a:buNone/>
            </a:pPr>
            <a:r>
              <a:rPr lang="en-US" dirty="0" smtClean="0"/>
              <a:t>	Member (2001) and chairman (2002) of Technical Committee - Indian Tea Association </a:t>
            </a:r>
          </a:p>
          <a:p>
            <a:pPr>
              <a:buNone/>
            </a:pPr>
            <a:r>
              <a:rPr lang="en-US" dirty="0" smtClean="0"/>
              <a:t>	Member of engineering committee-TRA(1998-2002)</a:t>
            </a:r>
          </a:p>
          <a:p>
            <a:pPr>
              <a:buNone/>
            </a:pPr>
            <a:r>
              <a:rPr lang="en-US" dirty="0" smtClean="0"/>
              <a:t>	Member of editorial board for the Journal of Food Science and Technology (1989)</a:t>
            </a:r>
          </a:p>
          <a:p>
            <a:pPr>
              <a:buNone/>
            </a:pPr>
            <a:r>
              <a:rPr lang="en-US" sz="2000" dirty="0" smtClean="0"/>
              <a:t>	Life member of Indian Institute of Chemical Engineers</a:t>
            </a:r>
          </a:p>
          <a:p>
            <a:pPr>
              <a:buNone/>
            </a:pPr>
            <a:r>
              <a:rPr lang="en-US" sz="2000" dirty="0" smtClean="0"/>
              <a:t>	Life member of Association of Food Scientists and Technologists (India) </a:t>
            </a:r>
          </a:p>
          <a:p>
            <a:pPr>
              <a:buNone/>
            </a:pPr>
            <a:r>
              <a:rPr lang="en-US" sz="2000" dirty="0" smtClean="0"/>
              <a:t>	Life member of Indian Society for Plantation Crops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Member of Research and Academic Committees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algn="ctr">
              <a:buNone/>
            </a:pPr>
            <a:endParaRPr lang="en-US" sz="2000" dirty="0" smtClean="0"/>
          </a:p>
          <a:p>
            <a:pPr>
              <a:buNone/>
            </a:pPr>
            <a:r>
              <a:rPr lang="en-US" dirty="0" smtClean="0"/>
              <a:t>	President, Association of Food Scientists and Technologists, India (2005)</a:t>
            </a:r>
          </a:p>
          <a:p>
            <a:pPr>
              <a:buNone/>
            </a:pPr>
            <a:r>
              <a:rPr lang="en-US" dirty="0" smtClean="0"/>
              <a:t>	Member of Scientific panel on Water &amp; Beverages (including alcoholic beverages), FSSAI (2015-19)</a:t>
            </a:r>
          </a:p>
          <a:p>
            <a:pPr>
              <a:buNone/>
            </a:pPr>
            <a:r>
              <a:rPr lang="en-US" dirty="0" smtClean="0"/>
              <a:t>	Member of Scientific panel on Spices &amp; culinary herbs, FSSAI (2018-19)</a:t>
            </a:r>
          </a:p>
          <a:p>
            <a:pPr>
              <a:buNone/>
            </a:pPr>
            <a:r>
              <a:rPr lang="en-US" dirty="0" smtClean="0"/>
              <a:t>	Member of Scientific panel on Water &amp; Beverages, FSSAI (2020-22)</a:t>
            </a:r>
          </a:p>
          <a:p>
            <a:pPr>
              <a:buNone/>
            </a:pPr>
            <a:r>
              <a:rPr lang="en-US" dirty="0" smtClean="0"/>
              <a:t>	Member of Task Force on Food Processing in AP (2018)	</a:t>
            </a:r>
          </a:p>
          <a:p>
            <a:pPr>
              <a:buNone/>
            </a:pPr>
            <a:r>
              <a:rPr lang="en-US" dirty="0" smtClean="0"/>
              <a:t>	Reviewer for Journal of Food Science and Technology, Indian Food Industry and Journal of Food Engineering (UK).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Member of Research and Academic Committees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algn="ctr">
              <a:buNone/>
            </a:pPr>
            <a:endParaRPr lang="en-US" sz="2000" dirty="0" smtClean="0"/>
          </a:p>
          <a:p>
            <a:pPr>
              <a:buNone/>
            </a:pPr>
            <a:r>
              <a:rPr lang="en-US" dirty="0" smtClean="0"/>
              <a:t>	Research council member &amp; Consortium Coordinator- Quality and post-harvest Technology, National Tea Research Foundation, Tea Board (2018-21)</a:t>
            </a:r>
          </a:p>
          <a:p>
            <a:pPr>
              <a:buNone/>
            </a:pPr>
            <a:r>
              <a:rPr lang="en-US" dirty="0" smtClean="0"/>
              <a:t>	Member/Chairman of BOS- Food Technology, JNTUK</a:t>
            </a:r>
          </a:p>
          <a:p>
            <a:pPr>
              <a:buNone/>
            </a:pPr>
            <a:r>
              <a:rPr lang="en-US" dirty="0" smtClean="0"/>
              <a:t>	Chairman of BOS- Food Technology, JNTUA</a:t>
            </a:r>
          </a:p>
          <a:p>
            <a:pPr>
              <a:buNone/>
            </a:pPr>
            <a:r>
              <a:rPr lang="en-US" dirty="0" smtClean="0"/>
              <a:t>	Chairman of BOS- Food Technology, AKNU</a:t>
            </a:r>
          </a:p>
          <a:p>
            <a:pPr>
              <a:buNone/>
            </a:pPr>
            <a:r>
              <a:rPr lang="en-US" dirty="0" smtClean="0"/>
              <a:t>	Member of Advisory committee for B. Tech (Food Technology), JNTUA</a:t>
            </a:r>
          </a:p>
          <a:p>
            <a:pPr>
              <a:buNone/>
            </a:pPr>
            <a:r>
              <a:rPr lang="en-US" dirty="0" smtClean="0"/>
              <a:t>	Hon. Professor( Emeritus) at Andhra University, </a:t>
            </a:r>
            <a:r>
              <a:rPr lang="en-US" dirty="0" err="1" smtClean="0"/>
              <a:t>Vizag</a:t>
            </a:r>
            <a:r>
              <a:rPr lang="en-US" dirty="0" smtClean="0"/>
              <a:t> 2022</a:t>
            </a:r>
          </a:p>
          <a:p>
            <a:pPr>
              <a:buNone/>
            </a:pPr>
            <a:r>
              <a:rPr lang="en-US" dirty="0" smtClean="0"/>
              <a:t>	Member BOS- Food Technology, </a:t>
            </a:r>
            <a:r>
              <a:rPr lang="en-US" dirty="0" err="1" smtClean="0"/>
              <a:t>Osmania</a:t>
            </a:r>
            <a:r>
              <a:rPr lang="en-US" dirty="0" smtClean="0"/>
              <a:t> University</a:t>
            </a:r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VISITS ABROAD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Country                      Place(s) visited                                             Subject(s)</a:t>
            </a:r>
          </a:p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                           USA                           SNAPLE, New </a:t>
            </a:r>
            <a:r>
              <a:rPr lang="en-US" dirty="0" err="1" smtClean="0"/>
              <a:t>york</a:t>
            </a:r>
            <a:r>
              <a:rPr lang="en-US" dirty="0" smtClean="0"/>
              <a:t>                                     RTD</a:t>
            </a:r>
          </a:p>
          <a:p>
            <a:pPr>
              <a:buNone/>
            </a:pPr>
            <a:r>
              <a:rPr lang="en-US" dirty="0" smtClean="0"/>
              <a:t>						 Tata Tea Inc., Florida                                    Soluble Tea</a:t>
            </a:r>
          </a:p>
          <a:p>
            <a:pPr>
              <a:buNone/>
            </a:pPr>
            <a:r>
              <a:rPr lang="en-US" dirty="0" smtClean="0"/>
              <a:t>	KENYA                      African Highlands Produce Company         Tea cultivation &amp; Manufacture</a:t>
            </a:r>
          </a:p>
          <a:p>
            <a:pPr>
              <a:buNone/>
            </a:pPr>
            <a:r>
              <a:rPr lang="en-US" dirty="0" smtClean="0"/>
              <a:t>						Tea Research Foundation                              Tea Research of Kenya</a:t>
            </a:r>
          </a:p>
          <a:p>
            <a:pPr>
              <a:buNone/>
            </a:pPr>
            <a:r>
              <a:rPr lang="en-US" dirty="0" smtClean="0"/>
              <a:t>						Finlay Flowers, </a:t>
            </a:r>
            <a:r>
              <a:rPr lang="en-US" dirty="0" err="1" smtClean="0"/>
              <a:t>Kericho</a:t>
            </a:r>
            <a:r>
              <a:rPr lang="en-US" dirty="0" smtClean="0"/>
              <a:t>                                Cut flowers</a:t>
            </a:r>
          </a:p>
          <a:p>
            <a:pPr>
              <a:buNone/>
            </a:pPr>
            <a:r>
              <a:rPr lang="en-US" sz="2000" dirty="0" smtClean="0"/>
              <a:t>	FRANCE               Paris                                                        Tea Marketing</a:t>
            </a:r>
          </a:p>
          <a:p>
            <a:pPr>
              <a:buNone/>
            </a:pPr>
            <a:r>
              <a:rPr lang="en-US" sz="2000" dirty="0" smtClean="0"/>
              <a:t>	SINGAPORE        </a:t>
            </a:r>
            <a:r>
              <a:rPr lang="en-US" sz="2000" dirty="0" err="1" smtClean="0"/>
              <a:t>Plantek</a:t>
            </a:r>
            <a:r>
              <a:rPr lang="en-US" sz="2000" dirty="0" smtClean="0"/>
              <a:t> International (</a:t>
            </a:r>
            <a:r>
              <a:rPr lang="en-US" sz="2000" dirty="0" err="1" smtClean="0"/>
              <a:t>Pte</a:t>
            </a:r>
            <a:r>
              <a:rPr lang="en-US" sz="2000" dirty="0" smtClean="0"/>
              <a:t>) Ltd.               Tissue Culture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VISITS ABROAD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Country                      Place(s) visited                                             Subject(s)</a:t>
            </a:r>
          </a:p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 HOLLAND                 </a:t>
            </a:r>
            <a:r>
              <a:rPr lang="en-US" dirty="0" err="1" smtClean="0"/>
              <a:t>Ofman</a:t>
            </a:r>
            <a:r>
              <a:rPr lang="en-US" dirty="0" smtClean="0"/>
              <a:t> </a:t>
            </a:r>
            <a:r>
              <a:rPr lang="en-US" dirty="0" err="1" smtClean="0"/>
              <a:t>Verbeek</a:t>
            </a:r>
            <a:r>
              <a:rPr lang="en-US" dirty="0" smtClean="0"/>
              <a:t> International                      Cut flowers, TC plants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                                           B.V.                                                             and their market </a:t>
            </a:r>
          </a:p>
          <a:p>
            <a:pPr>
              <a:spcBef>
                <a:spcPts val="0"/>
              </a:spcBef>
              <a:buNone/>
            </a:pPr>
            <a:endParaRPr lang="en-US" dirty="0" smtClean="0"/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						 </a:t>
            </a:r>
            <a:r>
              <a:rPr lang="en-US" dirty="0" err="1" smtClean="0"/>
              <a:t>Verenigde</a:t>
            </a:r>
            <a:r>
              <a:rPr lang="en-US" dirty="0" smtClean="0"/>
              <a:t>                                           		Auction of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						 </a:t>
            </a:r>
            <a:r>
              <a:rPr lang="en-US" dirty="0" err="1" smtClean="0"/>
              <a:t>Bloemenveilingen</a:t>
            </a:r>
            <a:r>
              <a:rPr lang="en-US" dirty="0" smtClean="0"/>
              <a:t>                             		 cut flowers 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						</a:t>
            </a:r>
            <a:r>
              <a:rPr lang="en-US" dirty="0" err="1" smtClean="0"/>
              <a:t>Aalsmeer</a:t>
            </a:r>
            <a:r>
              <a:rPr lang="en-US" dirty="0" smtClean="0"/>
              <a:t> (VBA)</a:t>
            </a:r>
          </a:p>
          <a:p>
            <a:pPr>
              <a:buNone/>
            </a:pPr>
            <a:r>
              <a:rPr lang="en-US" dirty="0" smtClean="0"/>
              <a:t>	UK                              Lyons Tetley Ltd                                         Tea </a:t>
            </a:r>
            <a:r>
              <a:rPr lang="en-US" dirty="0" err="1" smtClean="0"/>
              <a:t>Packeting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		James Finlay &amp; Co                                       Tea tasting</a:t>
            </a:r>
          </a:p>
          <a:p>
            <a:pPr>
              <a:buNone/>
            </a:pPr>
            <a:r>
              <a:rPr lang="en-US" dirty="0" smtClean="0"/>
              <a:t>						London Chamber of                                      Tea Auction</a:t>
            </a:r>
          </a:p>
          <a:p>
            <a:pPr>
              <a:buNone/>
            </a:pPr>
            <a:r>
              <a:rPr lang="en-US" dirty="0" smtClean="0"/>
              <a:t>						Commerce, London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VISITS ABROAD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Country                      Place(s) visited                                             Subject(s)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  ------------------------------------------------------------------------------------------------------------------- THAILAND               </a:t>
            </a:r>
            <a:r>
              <a:rPr lang="en-US" dirty="0" err="1" smtClean="0"/>
              <a:t>Kasetsart</a:t>
            </a:r>
            <a:r>
              <a:rPr lang="en-US" dirty="0" smtClean="0"/>
              <a:t> </a:t>
            </a:r>
            <a:r>
              <a:rPr lang="en-US" dirty="0" err="1" smtClean="0"/>
              <a:t>Universty</a:t>
            </a:r>
            <a:r>
              <a:rPr lang="en-US" dirty="0" smtClean="0"/>
              <a:t>, Bangkok            Food Technology 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						  Asian Institute of                                Energy management</a:t>
            </a:r>
          </a:p>
          <a:p>
            <a:pPr>
              <a:spcBef>
                <a:spcPts val="0"/>
              </a:spcBef>
              <a:buNone/>
            </a:pPr>
            <a:endParaRPr lang="en-US" dirty="0" smtClean="0"/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                                          Technology, Bangkok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                                          Bangkok Flowers Centre                    Tissue culture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                                          Co. Ltd.</a:t>
            </a:r>
          </a:p>
          <a:p>
            <a:pPr>
              <a:spcBef>
                <a:spcPts val="0"/>
              </a:spcBef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                          FAO, Bangkok                                   Wood energy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VISITS ABROAD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Country                      Place(s) visited                                             Subject(s)</a:t>
            </a:r>
          </a:p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BELGIUM                 Co-packers of </a:t>
            </a:r>
            <a:r>
              <a:rPr lang="en-US" smtClean="0"/>
              <a:t>Tetley                         RTD </a:t>
            </a:r>
            <a:r>
              <a:rPr lang="en-US" dirty="0" smtClean="0"/>
              <a:t>factory</a:t>
            </a:r>
          </a:p>
          <a:p>
            <a:pPr>
              <a:buNone/>
            </a:pPr>
            <a:r>
              <a:rPr lang="en-US" dirty="0" smtClean="0"/>
              <a:t>	BRUSSELS                Tea Board delegation                        Pesticide Residues in Tea </a:t>
            </a:r>
          </a:p>
          <a:p>
            <a:pPr>
              <a:spcBef>
                <a:spcPts val="1200"/>
              </a:spcBef>
              <a:buNone/>
            </a:pPr>
            <a:r>
              <a:rPr lang="en-US" dirty="0" smtClean="0"/>
              <a:t>      GERMANY               Co-packers of Tetley                          Instant Tea factory </a:t>
            </a:r>
          </a:p>
          <a:p>
            <a:pPr>
              <a:spcBef>
                <a:spcPts val="1200"/>
              </a:spcBef>
              <a:buNone/>
            </a:pPr>
            <a:r>
              <a:rPr lang="en-US" dirty="0" smtClean="0"/>
              <a:t>      SRILANKA               Tea Research Institute                        Tea Research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                                         </a:t>
            </a:r>
            <a:r>
              <a:rPr lang="en-US" dirty="0" err="1" smtClean="0"/>
              <a:t>Watawala</a:t>
            </a:r>
            <a:r>
              <a:rPr lang="en-US" dirty="0" smtClean="0"/>
              <a:t> Plantations                         Tea Estates/Processing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	MY PROUD STUDENTS - CFTRI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			Name                              </a:t>
            </a:r>
            <a:r>
              <a:rPr lang="en-US" dirty="0" err="1" smtClean="0"/>
              <a:t>Organisation</a:t>
            </a:r>
            <a:r>
              <a:rPr lang="en-US" dirty="0" smtClean="0"/>
              <a:t>                                             Position</a:t>
            </a:r>
          </a:p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Jagdeep</a:t>
            </a:r>
            <a:r>
              <a:rPr lang="en-US" dirty="0" smtClean="0"/>
              <a:t> Singh			Nestle							MD, R&amp;D</a:t>
            </a:r>
          </a:p>
          <a:p>
            <a:pPr>
              <a:buNone/>
            </a:pPr>
            <a:r>
              <a:rPr lang="en-US" dirty="0" smtClean="0"/>
              <a:t>	  	Dr. </a:t>
            </a:r>
            <a:r>
              <a:rPr lang="en-US" dirty="0" err="1" smtClean="0"/>
              <a:t>Sridevi</a:t>
            </a:r>
            <a:r>
              <a:rPr lang="en-US" dirty="0" smtClean="0"/>
              <a:t> Singh		CFRTI							Director</a:t>
            </a:r>
          </a:p>
          <a:p>
            <a:pPr>
              <a:buNone/>
            </a:pPr>
            <a:r>
              <a:rPr lang="en-US" dirty="0" smtClean="0"/>
              <a:t>			M D Deepak			ITC								QA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Indranil</a:t>
            </a:r>
            <a:r>
              <a:rPr lang="en-US" dirty="0" smtClean="0"/>
              <a:t> </a:t>
            </a:r>
            <a:r>
              <a:rPr lang="en-US" dirty="0" err="1" smtClean="0"/>
              <a:t>cheterjee</a:t>
            </a:r>
            <a:r>
              <a:rPr lang="en-US" dirty="0" smtClean="0"/>
              <a:t>		IFF								VP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Sasi</a:t>
            </a:r>
            <a:r>
              <a:rPr lang="en-US" dirty="0" smtClean="0"/>
              <a:t> </a:t>
            </a:r>
            <a:r>
              <a:rPr lang="en-US" dirty="0" err="1" smtClean="0"/>
              <a:t>Rekha</a:t>
            </a:r>
            <a:r>
              <a:rPr lang="en-US" dirty="0" smtClean="0"/>
              <a:t>			BIS								Deputy Director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Neelabh</a:t>
            </a:r>
            <a:r>
              <a:rPr lang="en-US" dirty="0" smtClean="0"/>
              <a:t> Singh			Self employed			                        Consultant</a:t>
            </a:r>
          </a:p>
          <a:p>
            <a:pPr>
              <a:buNone/>
            </a:pP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	MY PROUD STUDENTS - CFTRI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			Name                              </a:t>
            </a:r>
            <a:r>
              <a:rPr lang="en-US" dirty="0" err="1" smtClean="0"/>
              <a:t>Organisation</a:t>
            </a:r>
            <a:r>
              <a:rPr lang="en-US" dirty="0" smtClean="0"/>
              <a:t>                                             Position</a:t>
            </a:r>
          </a:p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                Dr.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Manohar</a:t>
            </a:r>
            <a:r>
              <a:rPr lang="en-US" dirty="0" smtClean="0"/>
              <a:t>		CFRTI 							Chief Scientist</a:t>
            </a:r>
          </a:p>
          <a:p>
            <a:pPr>
              <a:buNone/>
            </a:pPr>
            <a:r>
              <a:rPr lang="en-US" dirty="0" smtClean="0"/>
              <a:t>	  	Dr. D </a:t>
            </a:r>
            <a:r>
              <a:rPr lang="en-US" dirty="0" err="1" smtClean="0"/>
              <a:t>khatkar</a:t>
            </a:r>
            <a:r>
              <a:rPr lang="en-US" dirty="0" smtClean="0"/>
              <a:t> Singh	SLIET						        Professor</a:t>
            </a:r>
          </a:p>
          <a:p>
            <a:pPr>
              <a:buNone/>
            </a:pPr>
            <a:r>
              <a:rPr lang="en-US" dirty="0" smtClean="0"/>
              <a:t>			A Simon			 	Tata Tea							Head – QC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Aravind</a:t>
            </a:r>
            <a:r>
              <a:rPr lang="en-US" dirty="0" smtClean="0"/>
              <a:t> M R                   Floor mills						Director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Kishore</a:t>
            </a:r>
            <a:r>
              <a:rPr lang="en-US" dirty="0" smtClean="0"/>
              <a:t>				</a:t>
            </a:r>
            <a:r>
              <a:rPr lang="en-US" dirty="0" err="1" smtClean="0"/>
              <a:t>Priya</a:t>
            </a:r>
            <a:r>
              <a:rPr lang="en-US" dirty="0" smtClean="0"/>
              <a:t> Foods						CEO </a:t>
            </a:r>
          </a:p>
          <a:p>
            <a:pPr>
              <a:buNone/>
            </a:pPr>
            <a:r>
              <a:rPr lang="en-US" dirty="0" smtClean="0"/>
              <a:t>			S V </a:t>
            </a:r>
            <a:r>
              <a:rPr lang="en-US" dirty="0" err="1" smtClean="0"/>
              <a:t>Ramana</a:t>
            </a:r>
            <a:r>
              <a:rPr lang="en-US" dirty="0" smtClean="0"/>
              <a:t>			Nestle                                                      R&amp;D Scientist</a:t>
            </a:r>
          </a:p>
          <a:p>
            <a:pPr>
              <a:buNone/>
            </a:pPr>
            <a:r>
              <a:rPr lang="en-US" dirty="0" smtClean="0"/>
              <a:t>			 </a:t>
            </a:r>
          </a:p>
          <a:p>
            <a:pPr>
              <a:buNone/>
            </a:pPr>
            <a:r>
              <a:rPr lang="en-US" dirty="0" smtClean="0"/>
              <a:t>			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	MY PROUD STUDENTS - JNTUK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			Name                              </a:t>
            </a:r>
            <a:r>
              <a:rPr lang="en-US" dirty="0" err="1" smtClean="0"/>
              <a:t>Organisation</a:t>
            </a:r>
            <a:r>
              <a:rPr lang="en-US" dirty="0" smtClean="0"/>
              <a:t>                                             Position</a:t>
            </a:r>
          </a:p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Namratha</a:t>
            </a:r>
            <a:r>
              <a:rPr lang="en-US" dirty="0" smtClean="0"/>
              <a:t>			Dr. Reddy’s</a:t>
            </a:r>
            <a:r>
              <a:rPr lang="en-US" dirty="0"/>
              <a:t> </a:t>
            </a:r>
            <a:r>
              <a:rPr lang="en-US" dirty="0" smtClean="0"/>
              <a:t>Laboratory				 </a:t>
            </a:r>
            <a:r>
              <a:rPr lang="en-US" dirty="0"/>
              <a:t> </a:t>
            </a:r>
            <a:r>
              <a:rPr lang="en-US" dirty="0" smtClean="0"/>
              <a:t>      Senior Scientist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Anvesh</a:t>
            </a:r>
            <a:r>
              <a:rPr lang="en-US" dirty="0" smtClean="0"/>
              <a:t>  			</a:t>
            </a:r>
            <a:r>
              <a:rPr lang="en-US" dirty="0" err="1" smtClean="0"/>
              <a:t>Swiggy</a:t>
            </a:r>
            <a:r>
              <a:rPr lang="en-US" dirty="0" smtClean="0"/>
              <a:t>								Quality Head(Private label)</a:t>
            </a:r>
          </a:p>
          <a:p>
            <a:pPr>
              <a:buNone/>
            </a:pPr>
            <a:r>
              <a:rPr lang="en-US" dirty="0" smtClean="0"/>
              <a:t>	  	</a:t>
            </a:r>
            <a:r>
              <a:rPr lang="en-US" dirty="0" err="1" smtClean="0"/>
              <a:t>Sindhura</a:t>
            </a:r>
            <a:r>
              <a:rPr lang="en-US" dirty="0" smtClean="0"/>
              <a:t>			Nestle, Goa							</a:t>
            </a:r>
            <a:r>
              <a:rPr lang="en-US" dirty="0" err="1" smtClean="0"/>
              <a:t>Incharge</a:t>
            </a:r>
            <a:r>
              <a:rPr lang="en-US" dirty="0" smtClean="0"/>
              <a:t> - laboratory	</a:t>
            </a:r>
          </a:p>
          <a:p>
            <a:pPr>
              <a:buNone/>
            </a:pPr>
            <a:r>
              <a:rPr lang="en-US" dirty="0" smtClean="0"/>
              <a:t>			Grace			ITC								 	QA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Satyanarayana</a:t>
            </a:r>
            <a:r>
              <a:rPr lang="en-US" dirty="0" smtClean="0"/>
              <a:t>		ITC									Product Development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Balagangadhar</a:t>
            </a:r>
            <a:r>
              <a:rPr lang="en-US" dirty="0"/>
              <a:t>	</a:t>
            </a:r>
            <a:r>
              <a:rPr lang="en-US" dirty="0" smtClean="0"/>
              <a:t>Perfect Nuts Limited, Kenya				Plant Head</a:t>
            </a:r>
          </a:p>
          <a:p>
            <a:pPr>
              <a:buNone/>
            </a:pPr>
            <a:r>
              <a:rPr lang="en-US" dirty="0" smtClean="0"/>
              <a:t>       		</a:t>
            </a:r>
            <a:r>
              <a:rPr lang="en-US" dirty="0" err="1" smtClean="0"/>
              <a:t>Buvan</a:t>
            </a:r>
            <a:r>
              <a:rPr lang="en-US" dirty="0" smtClean="0"/>
              <a:t> </a:t>
            </a:r>
            <a:r>
              <a:rPr lang="en-US" dirty="0" err="1" smtClean="0"/>
              <a:t>Murty</a:t>
            </a:r>
            <a:r>
              <a:rPr lang="en-US" dirty="0" smtClean="0"/>
              <a:t>       </a:t>
            </a:r>
            <a:r>
              <a:rPr lang="en-US" dirty="0"/>
              <a:t> </a:t>
            </a:r>
            <a:r>
              <a:rPr lang="en-US" dirty="0" smtClean="0"/>
              <a:t>   Diamond Best Foods, Ajman Emirate 		Factory Manager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	MY PROUD STUDENTS - JNTUK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			Name                              </a:t>
            </a:r>
            <a:r>
              <a:rPr lang="en-US" dirty="0" err="1" smtClean="0"/>
              <a:t>Organisation</a:t>
            </a:r>
            <a:r>
              <a:rPr lang="en-US" dirty="0" smtClean="0"/>
              <a:t>                                             Position</a:t>
            </a:r>
          </a:p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Chaitanya</a:t>
            </a:r>
            <a:r>
              <a:rPr lang="en-US" dirty="0" smtClean="0"/>
              <a:t>		    Birla soft solutions 					SAP Consultant(HUL)	</a:t>
            </a:r>
          </a:p>
          <a:p>
            <a:pPr>
              <a:buNone/>
            </a:pPr>
            <a:r>
              <a:rPr lang="en-US" dirty="0" smtClean="0"/>
              <a:t>			Dr. D. </a:t>
            </a:r>
            <a:r>
              <a:rPr lang="en-US" dirty="0" err="1" smtClean="0"/>
              <a:t>Srenuja</a:t>
            </a:r>
            <a:r>
              <a:rPr lang="en-US" dirty="0" smtClean="0"/>
              <a:t>		    Coco Cola, Gurgaon					Product Developer, R&amp;D</a:t>
            </a:r>
          </a:p>
          <a:p>
            <a:pPr>
              <a:buNone/>
            </a:pPr>
            <a:r>
              <a:rPr lang="en-US" dirty="0" smtClean="0"/>
              <a:t>	  	T </a:t>
            </a:r>
            <a:r>
              <a:rPr lang="en-US" dirty="0" err="1" smtClean="0"/>
              <a:t>Murali</a:t>
            </a:r>
            <a:r>
              <a:rPr lang="en-US" dirty="0" smtClean="0"/>
              <a:t>		           Tata Consumer Products,				Production			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Kranthi</a:t>
            </a:r>
            <a:r>
              <a:rPr lang="en-US" dirty="0" smtClean="0"/>
              <a:t>			    CPF							 	R&amp;D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Harsha</a:t>
            </a:r>
            <a:r>
              <a:rPr lang="en-US" dirty="0" smtClean="0"/>
              <a:t>	 		    CPF								R&amp;D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Naveen</a:t>
            </a:r>
            <a:r>
              <a:rPr lang="en-US" dirty="0" smtClean="0"/>
              <a:t> Kumar	    Parle								Production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Venkat</a:t>
            </a:r>
            <a:r>
              <a:rPr lang="en-US" dirty="0" smtClean="0"/>
              <a:t> Reddy             Bimbo Bakeries India, Chennai			</a:t>
            </a:r>
            <a:r>
              <a:rPr lang="en-US" dirty="0" err="1" smtClean="0"/>
              <a:t>Qaulity</a:t>
            </a:r>
            <a:r>
              <a:rPr lang="en-US" dirty="0" smtClean="0"/>
              <a:t> </a:t>
            </a:r>
            <a:r>
              <a:rPr lang="en-US" dirty="0" err="1" smtClean="0"/>
              <a:t>Incharge</a:t>
            </a:r>
            <a:r>
              <a:rPr lang="en-US" dirty="0" smtClean="0"/>
              <a:t>	 </a:t>
            </a:r>
          </a:p>
          <a:p>
            <a:pPr>
              <a:buNone/>
            </a:pPr>
            <a:r>
              <a:rPr lang="en-US" dirty="0" smtClean="0"/>
              <a:t>			Harish 	 		    </a:t>
            </a:r>
            <a:r>
              <a:rPr lang="en-US" dirty="0" err="1" smtClean="0"/>
              <a:t>Mastro</a:t>
            </a:r>
            <a:r>
              <a:rPr lang="en-US" dirty="0" smtClean="0"/>
              <a:t> Master Foods  				Manager - Production</a:t>
            </a:r>
          </a:p>
          <a:p>
            <a:pPr>
              <a:buNone/>
            </a:pPr>
            <a:r>
              <a:rPr lang="en-US" dirty="0" smtClean="0"/>
              <a:t>			 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	MY PROUD STUDENTS - JNTUK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			Name                              </a:t>
            </a:r>
            <a:r>
              <a:rPr lang="en-US" dirty="0" err="1" smtClean="0"/>
              <a:t>Organisation</a:t>
            </a:r>
            <a:r>
              <a:rPr lang="en-US" dirty="0" smtClean="0"/>
              <a:t>                                             Position</a:t>
            </a:r>
          </a:p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Devidas</a:t>
            </a:r>
            <a:r>
              <a:rPr lang="en-US" dirty="0" smtClean="0"/>
              <a:t>		               Food safety, West Bengal                 Food safety officer		 </a:t>
            </a:r>
          </a:p>
          <a:p>
            <a:pPr>
              <a:buNone/>
            </a:pPr>
            <a:r>
              <a:rPr lang="en-US" dirty="0" smtClean="0"/>
              <a:t>			Flora			       Food safety, AP               	 		Food safety officer</a:t>
            </a:r>
          </a:p>
          <a:p>
            <a:pPr>
              <a:buNone/>
            </a:pPr>
            <a:r>
              <a:rPr lang="en-US" dirty="0" smtClean="0"/>
              <a:t>			R </a:t>
            </a:r>
            <a:r>
              <a:rPr lang="en-US" dirty="0" err="1" smtClean="0"/>
              <a:t>Naresh</a:t>
            </a:r>
            <a:r>
              <a:rPr lang="en-US" dirty="0" smtClean="0"/>
              <a:t>	  	 	       IFF							QC						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Pavitra</a:t>
            </a:r>
            <a:r>
              <a:rPr lang="en-US" dirty="0" smtClean="0"/>
              <a:t>			       FCI							QC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Jyostna</a:t>
            </a:r>
            <a:r>
              <a:rPr lang="en-US" dirty="0" smtClean="0"/>
              <a:t>	 		       FCI							QC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Aarati</a:t>
            </a:r>
            <a:r>
              <a:rPr lang="en-US" dirty="0" smtClean="0"/>
              <a:t>			       APFPS						Manager – Food Technology</a:t>
            </a:r>
          </a:p>
          <a:p>
            <a:pPr>
              <a:buNone/>
            </a:pPr>
            <a:r>
              <a:rPr lang="en-US" sz="2000" i="1" dirty="0" smtClean="0"/>
              <a:t>		       </a:t>
            </a:r>
            <a:r>
              <a:rPr lang="en-US" sz="2000" dirty="0" smtClean="0"/>
              <a:t>Siva </a:t>
            </a:r>
            <a:r>
              <a:rPr lang="en-US" sz="2000" dirty="0" err="1" smtClean="0"/>
              <a:t>Leela</a:t>
            </a:r>
            <a:r>
              <a:rPr lang="en-US" sz="2000" dirty="0" smtClean="0"/>
              <a:t>		      Telugu Foods					Manager-QA/R&amp;D</a:t>
            </a:r>
          </a:p>
          <a:p>
            <a:pPr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Dr. A. </a:t>
            </a:r>
            <a:r>
              <a:rPr lang="en-US" sz="2000" dirty="0" err="1" smtClean="0"/>
              <a:t>Sunitha</a:t>
            </a:r>
            <a:r>
              <a:rPr lang="en-US" sz="2000" dirty="0" smtClean="0"/>
              <a:t>	       </a:t>
            </a:r>
            <a:r>
              <a:rPr lang="en-US" sz="2000" dirty="0" err="1" smtClean="0"/>
              <a:t>Ghanta</a:t>
            </a:r>
            <a:r>
              <a:rPr lang="en-US" sz="2000" dirty="0" smtClean="0"/>
              <a:t> Foods, Hyderabad		</a:t>
            </a:r>
            <a:r>
              <a:rPr lang="en-US" sz="2000" dirty="0" err="1" smtClean="0"/>
              <a:t>Incharge</a:t>
            </a:r>
            <a:r>
              <a:rPr lang="en-US" sz="2000" dirty="0" smtClean="0"/>
              <a:t>, </a:t>
            </a:r>
            <a:r>
              <a:rPr lang="en-US" sz="2000" dirty="0"/>
              <a:t>R</a:t>
            </a:r>
            <a:r>
              <a:rPr lang="en-US" sz="2000" dirty="0" smtClean="0"/>
              <a:t>&amp;D</a:t>
            </a:r>
          </a:p>
          <a:p>
            <a:pPr>
              <a:buNone/>
            </a:pPr>
            <a:r>
              <a:rPr lang="en-US" sz="2000" i="1" dirty="0"/>
              <a:t>	</a:t>
            </a:r>
            <a:r>
              <a:rPr lang="en-US" sz="2000" i="1" dirty="0" smtClean="0"/>
              <a:t>	       </a:t>
            </a:r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	MY PROUD STUDENTS - JNTUK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			Name                              </a:t>
            </a:r>
            <a:r>
              <a:rPr lang="en-US" dirty="0" err="1" smtClean="0"/>
              <a:t>Organisation</a:t>
            </a:r>
            <a:r>
              <a:rPr lang="en-US" dirty="0" smtClean="0"/>
              <a:t>                                             Position</a:t>
            </a:r>
          </a:p>
          <a:p>
            <a:pPr>
              <a:buNone/>
            </a:pPr>
            <a:r>
              <a:rPr lang="en-US" dirty="0" smtClean="0"/>
              <a:t>  ------------------------------------------------------------------------------------------------------------------- </a:t>
            </a:r>
          </a:p>
          <a:p>
            <a:pPr>
              <a:buNone/>
            </a:pPr>
            <a:r>
              <a:rPr lang="en-US" dirty="0" smtClean="0"/>
              <a:t>                Dr. V. </a:t>
            </a:r>
            <a:r>
              <a:rPr lang="en-US" dirty="0" err="1" smtClean="0"/>
              <a:t>Bhaskar</a:t>
            </a:r>
            <a:r>
              <a:rPr lang="en-US" dirty="0" smtClean="0"/>
              <a:t>			Osmania University				Faulty, Food Technology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Ramakrishna </a:t>
            </a:r>
            <a:r>
              <a:rPr lang="en-US" dirty="0" err="1" smtClean="0"/>
              <a:t>Rao</a:t>
            </a:r>
            <a:r>
              <a:rPr lang="en-US" dirty="0" smtClean="0"/>
              <a:t>	        MTR						 	QA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err="1" smtClean="0"/>
              <a:t>Veenasri</a:t>
            </a:r>
            <a:r>
              <a:rPr lang="en-US" dirty="0" smtClean="0"/>
              <a:t>                          MTR							R&amp;D	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err="1" smtClean="0"/>
              <a:t>Arya</a:t>
            </a:r>
            <a:r>
              <a:rPr lang="en-US" dirty="0" smtClean="0"/>
              <a:t> </a:t>
            </a:r>
            <a:r>
              <a:rPr lang="en-US" dirty="0" err="1" smtClean="0"/>
              <a:t>Vinayakam</a:t>
            </a:r>
            <a:r>
              <a:rPr lang="en-US" dirty="0" smtClean="0"/>
              <a:t>            E &amp; Y							Advisor to state Govt.</a:t>
            </a:r>
          </a:p>
          <a:p>
            <a:pPr>
              <a:buNone/>
            </a:pPr>
            <a:r>
              <a:rPr lang="en-US" dirty="0" smtClean="0"/>
              <a:t>			 Ravi </a:t>
            </a:r>
            <a:r>
              <a:rPr lang="en-US" dirty="0" err="1" smtClean="0"/>
              <a:t>Pawar</a:t>
            </a:r>
            <a:r>
              <a:rPr lang="en-US" dirty="0" smtClean="0"/>
              <a:t>                    Foods and Inns					Production</a:t>
            </a:r>
          </a:p>
          <a:p>
            <a:pPr>
              <a:buNone/>
            </a:pPr>
            <a:r>
              <a:rPr lang="en-US" dirty="0" smtClean="0"/>
              <a:t>                 </a:t>
            </a:r>
            <a:r>
              <a:rPr lang="en-US" dirty="0" err="1" smtClean="0"/>
              <a:t>Atish</a:t>
            </a:r>
            <a:r>
              <a:rPr lang="en-US" dirty="0" smtClean="0"/>
              <a:t>                              Godrej Tyson						QA</a:t>
            </a:r>
          </a:p>
          <a:p>
            <a:pPr>
              <a:buNone/>
            </a:pPr>
            <a:r>
              <a:rPr lang="en-US" dirty="0" smtClean="0"/>
              <a:t>			 Naveen 				</a:t>
            </a:r>
            <a:r>
              <a:rPr lang="en-US" dirty="0" err="1" smtClean="0"/>
              <a:t>Lecious</a:t>
            </a:r>
            <a:r>
              <a:rPr lang="en-US" dirty="0" smtClean="0"/>
              <a:t>							Factory </a:t>
            </a:r>
            <a:r>
              <a:rPr lang="en-US" dirty="0" err="1" smtClean="0"/>
              <a:t>incharge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 K. </a:t>
            </a:r>
            <a:r>
              <a:rPr lang="en-US" dirty="0" err="1" smtClean="0"/>
              <a:t>Harshavardhan</a:t>
            </a:r>
            <a:r>
              <a:rPr lang="en-US" dirty="0" smtClean="0"/>
              <a:t>		MSME, IEDS, Foods				Asst. Director, </a:t>
            </a:r>
            <a:r>
              <a:rPr lang="en-US" dirty="0" err="1" smtClean="0"/>
              <a:t>Gr.II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 </a:t>
            </a:r>
          </a:p>
          <a:p>
            <a:pPr>
              <a:buNone/>
            </a:pPr>
            <a:r>
              <a:rPr lang="en-US" dirty="0" smtClean="0"/>
              <a:t>			 </a:t>
            </a:r>
          </a:p>
          <a:p>
            <a:pPr>
              <a:buNone/>
            </a:pPr>
            <a:endParaRPr lang="en-US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AWARDS - FASFT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algn="ctr">
              <a:buNone/>
            </a:pPr>
            <a:endParaRPr lang="en-US" sz="2400" dirty="0" smtClean="0"/>
          </a:p>
          <a:p>
            <a:pPr algn="ctr">
              <a:buNone/>
            </a:pPr>
            <a:r>
              <a:rPr lang="en-US" sz="2400" dirty="0" smtClean="0"/>
              <a:t>AFST (I) </a:t>
            </a:r>
          </a:p>
          <a:p>
            <a:pPr algn="ctr">
              <a:buNone/>
            </a:pPr>
            <a:r>
              <a:rPr lang="en-US" sz="2400" dirty="0" smtClean="0"/>
              <a:t>Conferred </a:t>
            </a:r>
          </a:p>
          <a:p>
            <a:pPr algn="ctr">
              <a:buNone/>
            </a:pPr>
            <a:r>
              <a:rPr lang="en-US" sz="2400" dirty="0" smtClean="0"/>
              <a:t>‘Fellow of Association of Food Scientists and Technologists’ </a:t>
            </a:r>
          </a:p>
          <a:p>
            <a:pPr algn="ctr">
              <a:buNone/>
            </a:pPr>
            <a:r>
              <a:rPr lang="en-US" sz="2400" dirty="0" smtClean="0"/>
              <a:t>in</a:t>
            </a:r>
          </a:p>
          <a:p>
            <a:pPr algn="ctr">
              <a:buNone/>
            </a:pPr>
            <a:r>
              <a:rPr lang="en-US" sz="2400" dirty="0" smtClean="0"/>
              <a:t>2005 </a:t>
            </a:r>
          </a:p>
          <a:p>
            <a:pPr algn="ctr">
              <a:buNone/>
            </a:pPr>
            <a:r>
              <a:rPr lang="en-US" sz="2400" dirty="0" smtClean="0"/>
              <a:t>for </a:t>
            </a:r>
          </a:p>
          <a:p>
            <a:pPr algn="ctr">
              <a:buNone/>
            </a:pPr>
            <a:r>
              <a:rPr lang="en-US" sz="2400" dirty="0" smtClean="0"/>
              <a:t>outstanding contributions in the area of Food Science and Technology. </a:t>
            </a:r>
          </a:p>
          <a:p>
            <a:pPr algn="ctr">
              <a:buNone/>
            </a:pPr>
            <a:endParaRPr lang="en-US" sz="2400" dirty="0" smtClean="0"/>
          </a:p>
          <a:p>
            <a:pPr algn="ctr">
              <a:buNone/>
            </a:pPr>
            <a:r>
              <a:rPr lang="en-US" sz="2400" dirty="0" smtClean="0"/>
              <a:t> 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 marL="0" indent="0" algn="just">
              <a:buNone/>
            </a:pP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AWARDS – Honorary Professor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algn="ctr">
              <a:buNone/>
            </a:pPr>
            <a:endParaRPr lang="en-US" sz="2400" dirty="0" smtClean="0"/>
          </a:p>
          <a:p>
            <a:pPr algn="ctr">
              <a:buNone/>
            </a:pPr>
            <a:r>
              <a:rPr lang="en-US" sz="2400" dirty="0" smtClean="0"/>
              <a:t>Andhra University </a:t>
            </a:r>
          </a:p>
          <a:p>
            <a:pPr algn="ctr">
              <a:buNone/>
            </a:pPr>
            <a:r>
              <a:rPr lang="en-US" sz="2400" dirty="0" smtClean="0"/>
              <a:t>Nominated</a:t>
            </a:r>
          </a:p>
          <a:p>
            <a:pPr algn="ctr">
              <a:buNone/>
            </a:pPr>
            <a:r>
              <a:rPr lang="en-US" sz="2400" dirty="0" smtClean="0"/>
              <a:t>as</a:t>
            </a:r>
          </a:p>
          <a:p>
            <a:pPr algn="ctr">
              <a:buNone/>
            </a:pPr>
            <a:r>
              <a:rPr lang="en-US" sz="2400" dirty="0" smtClean="0"/>
              <a:t>‘Honorary Professor(Emeritus)’ </a:t>
            </a:r>
          </a:p>
          <a:p>
            <a:pPr algn="ctr">
              <a:buNone/>
            </a:pPr>
            <a:r>
              <a:rPr lang="en-US" sz="2400" dirty="0" smtClean="0"/>
              <a:t>in the department of Food, Nutrition &amp; Dietetic</a:t>
            </a:r>
          </a:p>
          <a:p>
            <a:pPr algn="ctr">
              <a:buNone/>
            </a:pPr>
            <a:r>
              <a:rPr lang="en-US" sz="2400" dirty="0" smtClean="0"/>
              <a:t>in</a:t>
            </a:r>
          </a:p>
          <a:p>
            <a:pPr algn="ctr">
              <a:buNone/>
            </a:pPr>
            <a:r>
              <a:rPr lang="en-US" sz="2400" dirty="0" smtClean="0"/>
              <a:t>2022 </a:t>
            </a:r>
          </a:p>
          <a:p>
            <a:pPr algn="ctr">
              <a:buNone/>
            </a:pPr>
            <a:r>
              <a:rPr lang="en-US" sz="2400" dirty="0" smtClean="0"/>
              <a:t> </a:t>
            </a:r>
          </a:p>
          <a:p>
            <a:pPr algn="ctr">
              <a:buNone/>
            </a:pPr>
            <a:endParaRPr lang="en-US" sz="2400" dirty="0" smtClean="0"/>
          </a:p>
          <a:p>
            <a:pPr algn="ctr">
              <a:buNone/>
            </a:pPr>
            <a:r>
              <a:rPr lang="en-US" sz="2400" dirty="0" smtClean="0"/>
              <a:t> 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 marL="0" indent="0" algn="just">
              <a:buNone/>
            </a:pP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 </a:t>
            </a:r>
            <a:r>
              <a:rPr lang="en-US" sz="3200" dirty="0" smtClean="0"/>
              <a:t>AMBITION</a:t>
            </a:r>
            <a:br>
              <a:rPr lang="en-US" sz="3200" dirty="0" smtClean="0"/>
            </a:b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marL="0" indent="0" algn="ctr">
              <a:buNone/>
            </a:pPr>
            <a:endParaRPr lang="en-US" sz="3200" i="1" dirty="0" smtClean="0"/>
          </a:p>
          <a:p>
            <a:pPr algn="ctr">
              <a:buNone/>
            </a:pPr>
            <a:endParaRPr lang="en-US" sz="2000" dirty="0" smtClean="0"/>
          </a:p>
          <a:p>
            <a:pPr algn="ctr">
              <a:buNone/>
            </a:pPr>
            <a:endParaRPr lang="en-US" sz="2000" dirty="0" smtClean="0"/>
          </a:p>
          <a:p>
            <a:pPr algn="ctr">
              <a:buNone/>
            </a:pPr>
            <a:r>
              <a:rPr lang="en-US" sz="2000" dirty="0" smtClean="0"/>
              <a:t>SHARE THE KNOWLEDGE/EXPERTISE BACK TO SOCIETY</a:t>
            </a:r>
          </a:p>
          <a:p>
            <a:pPr algn="ctr">
              <a:buNone/>
            </a:pPr>
            <a:r>
              <a:rPr lang="en-US" sz="1400" dirty="0" smtClean="0"/>
              <a:t>(ACADEMIC INSTITUTIONS,  INDUSTRY, PROSESSIONAL BODIES etc) </a:t>
            </a:r>
          </a:p>
          <a:p>
            <a:pPr algn="ctr">
              <a:buNone/>
            </a:pPr>
            <a:endParaRPr lang="en-US" sz="1400" dirty="0" smtClean="0"/>
          </a:p>
          <a:p>
            <a:pPr algn="ctr">
              <a:buNone/>
            </a:pPr>
            <a:r>
              <a:rPr lang="en-US" sz="1400" i="1" dirty="0" smtClean="0"/>
              <a:t>                                                …………………….AS LONG AS IT IS POSSIBLE</a:t>
            </a:r>
          </a:p>
          <a:p>
            <a:pPr marL="0" indent="0" algn="just">
              <a:buNone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127" y="1896917"/>
            <a:ext cx="9585512" cy="4264891"/>
          </a:xfrm>
        </p:spPr>
        <p:txBody>
          <a:bodyPr/>
          <a:lstStyle/>
          <a:p>
            <a:pPr algn="ctr">
              <a:buNone/>
            </a:pPr>
            <a:endParaRPr lang="en-US" sz="2400" dirty="0" smtClean="0"/>
          </a:p>
          <a:p>
            <a:pPr algn="ctr">
              <a:buNone/>
            </a:pPr>
            <a:endParaRPr lang="en-US" sz="2400" dirty="0" smtClean="0"/>
          </a:p>
          <a:p>
            <a:pPr algn="ctr">
              <a:buNone/>
            </a:pPr>
            <a:r>
              <a:rPr lang="en-US" sz="2400" dirty="0" smtClean="0"/>
              <a:t>THANKS</a:t>
            </a:r>
          </a:p>
          <a:p>
            <a:pPr algn="ctr">
              <a:buNone/>
            </a:pPr>
            <a:r>
              <a:rPr lang="en-US" sz="2400" dirty="0" smtClean="0"/>
              <a:t> FOR </a:t>
            </a:r>
          </a:p>
          <a:p>
            <a:pPr algn="ctr">
              <a:buNone/>
            </a:pPr>
            <a:r>
              <a:rPr lang="en-US" sz="2400" smtClean="0"/>
              <a:t>YOUR ATTENTION</a:t>
            </a:r>
            <a:endParaRPr lang="en-US" sz="2400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 marL="0" indent="0" algn="just">
              <a:buNone/>
            </a:pP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8617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2257</TotalTime>
  <Words>394</Words>
  <Application>Microsoft Office PowerPoint</Application>
  <PresentationFormat>Custom</PresentationFormat>
  <Paragraphs>340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Ion Boardroom</vt:lpstr>
      <vt:lpstr> AMBITION  </vt:lpstr>
      <vt:lpstr> QUALIFICATIONS  </vt:lpstr>
      <vt:lpstr>EXPERIENCE </vt:lpstr>
      <vt:lpstr>POSITIONS HELD</vt:lpstr>
      <vt:lpstr>CONTRIBUTIONS – FIRST OF ITS KIND</vt:lpstr>
      <vt:lpstr>CONTRIBUTIONS – FIRST OF ITS KIND</vt:lpstr>
      <vt:lpstr>CONTRIBUTIONS-PUBLICATIONS/PATENTS</vt:lpstr>
      <vt:lpstr>CONTRIBUTIONS-TURN KEY PROJECTS</vt:lpstr>
      <vt:lpstr>CONTRIBUTIONS-TURN KEY PROJECTS</vt:lpstr>
      <vt:lpstr>CONTRIBUTIONS-TURN KEY PROJECTS</vt:lpstr>
      <vt:lpstr>CONTRIBUTIONS-AFTER RETIREMENT</vt:lpstr>
      <vt:lpstr>CONTRIBUTIONS-AFTER RETIREMENT</vt:lpstr>
      <vt:lpstr>CONTRIBUTIONS-AFTER RETIREMENT</vt:lpstr>
      <vt:lpstr>CONTRIBUTIONS-AFTER RETIREMENT</vt:lpstr>
      <vt:lpstr>Member of Research and Academic Committees</vt:lpstr>
      <vt:lpstr>Member of Research and Academic Committees</vt:lpstr>
      <vt:lpstr>Member of Research and Academic Committees</vt:lpstr>
      <vt:lpstr>VISITS ABROAD</vt:lpstr>
      <vt:lpstr>VISITS ABROAD</vt:lpstr>
      <vt:lpstr>VISITS ABROAD</vt:lpstr>
      <vt:lpstr>VISITS ABROAD</vt:lpstr>
      <vt:lpstr> MY PROUD STUDENTS - CFTRI</vt:lpstr>
      <vt:lpstr> MY PROUD STUDENTS - CFTRI</vt:lpstr>
      <vt:lpstr> MY PROUD STUDENTS - JNTUK</vt:lpstr>
      <vt:lpstr> MY PROUD STUDENTS - JNTUK</vt:lpstr>
      <vt:lpstr> MY PROUD STUDENTS - JNTUK</vt:lpstr>
      <vt:lpstr> MY PROUD STUDENTS - JNTUK</vt:lpstr>
      <vt:lpstr>AWARDS - FASFT            </vt:lpstr>
      <vt:lpstr>AWARDS – Honorary Professor            </vt:lpstr>
      <vt:lpstr> AMBITION  </vt:lpstr>
      <vt:lpstr>THANKS           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Food Technology</dc:title>
  <dc:creator>Kiran Kumar</dc:creator>
  <cp:lastModifiedBy>COMPAQ</cp:lastModifiedBy>
  <cp:revision>216</cp:revision>
  <cp:lastPrinted>2017-04-16T10:32:46Z</cp:lastPrinted>
  <dcterms:created xsi:type="dcterms:W3CDTF">2017-04-15T03:10:06Z</dcterms:created>
  <dcterms:modified xsi:type="dcterms:W3CDTF">2025-07-05T04:44:15Z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